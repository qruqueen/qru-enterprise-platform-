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35106A"/>
        </a:solidFill>
        <a:effectLst/>
      </p:bgPr>
    </p:bg>
    <p:spTree>
      <p:nvGrpSpPr>
        <p:cNvPr id="1" name=""/>
        <p:cNvGrpSpPr/>
        <p:nvPr/>
      </p:nvGrpSpPr>
      <p:grpSpPr/>
      <p:sp>
        <p:nvSpPr>
          <p:cNvPr id="2" name="TextBox 1"/>
          <p:cNvSpPr txBox="1"/>
          <p:nvPr/>
        </p:nvSpPr>
        <p:spPr>
          <a:xfrm>
            <a:off x="731520" y="2011680"/>
            <a:ext cx="10698480" cy="1097280"/>
          </a:xfrm>
          <a:prstGeom prst="rect">
            <a:avLst/>
          </a:prstGeom>
          <a:noFill/>
        </p:spPr>
        <p:txBody>
          <a:bodyPr wrap="square">
            <a:spAutoFit/>
          </a:bodyPr>
          <a:lstStyle/>
          <a:p>
            <a:r>
              <a:rPr sz="1600" b="1">
                <a:solidFill>
                  <a:srgbClr val="F5B21A"/>
                </a:solidFill>
                <a:latin typeface="Arial"/>
              </a:rPr>
              <a:t>QRU PRESS™ · Health</a:t>
            </a:r>
          </a:p>
        </p:txBody>
      </p:sp>
      <p:sp>
        <p:nvSpPr>
          <p:cNvPr id="3" name="TextBox 2"/>
          <p:cNvSpPr txBox="1"/>
          <p:nvPr/>
        </p:nvSpPr>
        <p:spPr>
          <a:xfrm>
            <a:off x="731520" y="2651760"/>
            <a:ext cx="10698480" cy="1097280"/>
          </a:xfrm>
          <a:prstGeom prst="rect">
            <a:avLst/>
          </a:prstGeom>
          <a:noFill/>
        </p:spPr>
        <p:txBody>
          <a:bodyPr wrap="square">
            <a:spAutoFit/>
          </a:bodyPr>
          <a:lstStyle/>
          <a:p>
            <a:r>
              <a:rPr sz="4000" b="1">
                <a:solidFill>
                  <a:srgbClr val="FFFFFF"/>
                </a:solidFill>
                <a:latin typeface="Arial"/>
              </a:rPr>
              <a:t>QRU Factory Acceptance Test — Understanding Sleep and Rest — Presentation</a:t>
            </a:r>
          </a:p>
        </p:txBody>
      </p:sp>
      <p:sp>
        <p:nvSpPr>
          <p:cNvPr id="4" name="TextBox 3"/>
          <p:cNvSpPr txBox="1"/>
          <p:nvPr/>
        </p:nvSpPr>
        <p:spPr>
          <a:xfrm>
            <a:off x="731520" y="4754880"/>
            <a:ext cx="10698480" cy="1097280"/>
          </a:xfrm>
          <a:prstGeom prst="rect">
            <a:avLst/>
          </a:prstGeom>
          <a:noFill/>
        </p:spPr>
        <p:txBody>
          <a:bodyPr wrap="square">
            <a:spAutoFit/>
          </a:bodyPr>
          <a:lstStyle/>
          <a:p>
            <a:r>
              <a:rPr sz="1600" b="1">
                <a:solidFill>
                  <a:srgbClr val="F5B21A"/>
                </a:solidFill>
                <a:latin typeface="Arial"/>
              </a:rPr>
              <a:t>Treasure Standard™ Certified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10-Slide Presentation: Why Rest Helps, but Sleep Does the Repair</a:t>
            </a:r>
          </a:p>
        </p:txBody>
      </p:sp>
      <p:sp>
        <p:nvSpPr>
          <p:cNvPr id="4" name="TextBox 3"/>
          <p:cNvSpPr txBox="1"/>
          <p:nvPr/>
        </p:nvSpPr>
        <p:spPr>
          <a:xfrm>
            <a:off x="822960" y="1737360"/>
            <a:ext cx="10515600" cy="4572000"/>
          </a:xfrm>
          <a:prstGeom prst="rect">
            <a:avLst/>
          </a:prstGeom>
          <a:noFill/>
        </p:spPr>
        <p:txBody>
          <a:bodyPr wrap="square">
            <a:spAutoFit/>
          </a:bodyPr>
          <a:lstStyle/>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Slide 1: The Big Question</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Why do humans need sleep — and can rest replace it?</a:t>
            </a:r>
          </a:p>
          <a:p>
            <a:r>
              <a:rPr sz="1600">
                <a:solidFill>
                  <a:srgbClr val="221A42"/>
                </a:solidFill>
                <a:latin typeface="Arial"/>
              </a:rPr>
              <a:t>• Sleep is biologically essential, not optional.</a:t>
            </a:r>
          </a:p>
          <a:p>
            <a:r>
              <a:rPr sz="1600">
                <a:solidFill>
                  <a:srgbClr val="221A42"/>
                </a:solidFill>
                <a:latin typeface="Arial"/>
              </a:rPr>
              <a:t>• Rest is valuable, but it is not the same as sleep.</a:t>
            </a:r>
          </a:p>
          <a:p>
            <a:r>
              <a:rPr sz="1600">
                <a:solidFill>
                  <a:srgbClr val="221A42"/>
                </a:solidFill>
                <a:latin typeface="Arial"/>
              </a:rPr>
              <a:t>• Sleep supports the brain, body, mood, safety, and performance.</a:t>
            </a:r>
          </a:p>
          <a:p>
            <a:r>
              <a:rPr sz="1600">
                <a:solidFill>
                  <a:srgbClr val="221A42"/>
                </a:solidFill>
                <a:latin typeface="Arial"/>
              </a:rPr>
              <a:t>• Memory anchor: **Rest can pause the drain, but sleep does the repair.</a:t>
            </a:r>
          </a:p>
          <a:p>
            <a:r>
              <a:rPr sz="1600">
                <a:solidFill>
                  <a:srgbClr val="221A42"/>
                </a:solidFill>
                <a:latin typeface="Arial"/>
              </a:rPr>
              <a:t>• ### Learning Objectives</a:t>
            </a:r>
          </a:p>
          <a:p>
            <a:r>
              <a:rPr sz="1600">
                <a:solidFill>
                  <a:srgbClr val="221A42"/>
                </a:solidFill>
                <a:latin typeface="Arial"/>
              </a:rPr>
              <a:t>• By the end of this presentation, learners will be able to:</a:t>
            </a:r>
          </a:p>
          <a:p>
            <a:r>
              <a:rPr sz="1600">
                <a:solidFill>
                  <a:srgbClr val="221A42"/>
                </a:solidFill>
                <a:latin typeface="Arial"/>
              </a:rPr>
              <a:t>• 1. **Explain** at least three essential functions of sleep.</a:t>
            </a:r>
          </a:p>
          <a:p>
            <a:r>
              <a:rPr sz="1600">
                <a:solidFill>
                  <a:srgbClr val="221A42"/>
                </a:solidFill>
                <a:latin typeface="Arial"/>
              </a:rPr>
              <a:t>• 2. **Distinguish** rest, relaxation, quiet wakefulness, naps, and true sleep.</a:t>
            </a:r>
          </a:p>
          <a:p>
            <a:r>
              <a:rPr sz="1600">
                <a:solidFill>
                  <a:srgbClr val="221A42"/>
                </a:solidFill>
                <a:latin typeface="Arial"/>
              </a:rPr>
              <a:t>• 3. **Identify** practical sleep hygiene steps and signs that medical help may be needed.</a:t>
            </a:r>
          </a:p>
          <a:p>
            <a:r>
              <a:rPr sz="1600">
                <a:solidFill>
                  <a:srgbClr val="221A42"/>
                </a:solidFill>
                <a:latin typeface="Arial"/>
              </a:rPr>
              <a:t>• Suggested Visual:** Bed icon + question mark icon</a:t>
            </a:r>
          </a:p>
          <a:p>
            <a:r>
              <a:rPr sz="1600">
                <a:solidFill>
                  <a:srgbClr val="221A42"/>
                </a:solidFill>
                <a:latin typeface="Arial"/>
              </a:rPr>
              <a:t>• Footer:** `QRU Learning | Understanding Sleep and Rest`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Slide 2: Sleep Is Active Maintenance</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Sleep is not “doing nothing.”</a:t>
            </a:r>
          </a:p>
          <a:p>
            <a:r>
              <a:rPr sz="1600">
                <a:solidFill>
                  <a:srgbClr val="221A42"/>
                </a:solidFill>
                <a:latin typeface="Arial"/>
              </a:rPr>
              <a:t>• During sleep, the body supports:</a:t>
            </a:r>
          </a:p>
          <a:p>
            <a:r>
              <a:rPr sz="1600">
                <a:solidFill>
                  <a:srgbClr val="221A42"/>
                </a:solidFill>
                <a:latin typeface="Arial"/>
              </a:rPr>
              <a:t>• Brain function and memory processing</a:t>
            </a:r>
          </a:p>
          <a:p>
            <a:r>
              <a:rPr sz="1600">
                <a:solidFill>
                  <a:srgbClr val="221A42"/>
                </a:solidFill>
                <a:latin typeface="Arial"/>
              </a:rPr>
              <a:t>• Emotional regulation</a:t>
            </a:r>
          </a:p>
          <a:p>
            <a:r>
              <a:rPr sz="1600">
                <a:solidFill>
                  <a:srgbClr val="221A42"/>
                </a:solidFill>
                <a:latin typeface="Arial"/>
              </a:rPr>
              <a:t>• Physical recovery</a:t>
            </a:r>
          </a:p>
          <a:p>
            <a:r>
              <a:rPr sz="1600">
                <a:solidFill>
                  <a:srgbClr val="221A42"/>
                </a:solidFill>
                <a:latin typeface="Arial"/>
              </a:rPr>
              <a:t>• Hormone and metabolic regulation</a:t>
            </a:r>
          </a:p>
          <a:p>
            <a:r>
              <a:rPr sz="1600">
                <a:solidFill>
                  <a:srgbClr val="221A42"/>
                </a:solidFill>
                <a:latin typeface="Arial"/>
              </a:rPr>
              <a:t>• Immune system function</a:t>
            </a:r>
          </a:p>
          <a:p>
            <a:r>
              <a:rPr sz="1600">
                <a:solidFill>
                  <a:srgbClr val="221A42"/>
                </a:solidFill>
                <a:latin typeface="Arial"/>
              </a:rPr>
              <a:t>• Key idea:** Sleep is an active biological state.</a:t>
            </a:r>
          </a:p>
          <a:p>
            <a:r>
              <a:rPr sz="1600">
                <a:solidFill>
                  <a:srgbClr val="221A42"/>
                </a:solidFill>
                <a:latin typeface="Arial"/>
              </a:rPr>
              <a:t>• Suggested Visual:** Brain + gear icon</a:t>
            </a:r>
          </a:p>
          <a:p>
            <a:r>
              <a:rPr sz="1600">
                <a:solidFill>
                  <a:srgbClr val="221A42"/>
                </a:solidFill>
                <a:latin typeface="Arial"/>
              </a:rPr>
              <a:t>• Footer:** `QRU Learning | Understanding Sleep and Rest`</a:t>
            </a:r>
          </a:p>
          <a:p>
            <a:r>
              <a:rPr sz="1600">
                <a:solidFill>
                  <a:srgbClr val="221A42"/>
                </a:solidFill>
                <a:latin typeface="Arial"/>
              </a:rPr>
              <a:t>• Speaker Notes:</a:t>
            </a:r>
          </a:p>
          <a:p>
            <a:r>
              <a:rPr sz="1600">
                <a:solidFill>
                  <a:srgbClr val="221A42"/>
                </a:solidFill>
                <a:latin typeface="Arial"/>
              </a:rPr>
              <a:t>• Many people think sleep is passive, as if the body simply powers down. In reality, sleep is an active biological state. The brain and body continue doing important work while we sleep. Sleep helps support memory, learning, emotional balance, physical recovery, and immune regulation. That is why poor sleep can affect how clearly we think, how we feel, and how well we function the next day.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Slide 3: Sleep Supports the Whole Body</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Sleep affects more than energy.</a:t>
            </a:r>
          </a:p>
          <a:p>
            <a:r>
              <a:rPr sz="1600">
                <a:solidFill>
                  <a:srgbClr val="221A42"/>
                </a:solidFill>
                <a:latin typeface="Arial"/>
              </a:rPr>
              <a:t>• Sufficient, good-quality sleep supports:</a:t>
            </a:r>
          </a:p>
          <a:p>
            <a:r>
              <a:rPr sz="1600">
                <a:solidFill>
                  <a:srgbClr val="221A42"/>
                </a:solidFill>
                <a:latin typeface="Arial"/>
              </a:rPr>
              <a:t>• Brain:** attention, learning, memory, decision-making</a:t>
            </a:r>
          </a:p>
          <a:p>
            <a:r>
              <a:rPr sz="1600">
                <a:solidFill>
                  <a:srgbClr val="221A42"/>
                </a:solidFill>
                <a:latin typeface="Arial"/>
              </a:rPr>
              <a:t>• Mood:** emotional stability and stress tolerance</a:t>
            </a:r>
          </a:p>
          <a:p>
            <a:r>
              <a:rPr sz="1600">
                <a:solidFill>
                  <a:srgbClr val="221A42"/>
                </a:solidFill>
                <a:latin typeface="Arial"/>
              </a:rPr>
              <a:t>• Heart and blood vessels:** cardiovascular regulation</a:t>
            </a:r>
          </a:p>
          <a:p>
            <a:r>
              <a:rPr sz="1600">
                <a:solidFill>
                  <a:srgbClr val="221A42"/>
                </a:solidFill>
                <a:latin typeface="Arial"/>
              </a:rPr>
              <a:t>• Metabolism:** appetite and blood sugar regulation</a:t>
            </a:r>
          </a:p>
          <a:p>
            <a:r>
              <a:rPr sz="1600">
                <a:solidFill>
                  <a:srgbClr val="221A42"/>
                </a:solidFill>
                <a:latin typeface="Arial"/>
              </a:rPr>
              <a:t>• Immune function:** healthy defense and inflammatory balance</a:t>
            </a:r>
          </a:p>
          <a:p>
            <a:r>
              <a:rPr sz="1600">
                <a:solidFill>
                  <a:srgbClr val="221A42"/>
                </a:solidFill>
                <a:latin typeface="Arial"/>
              </a:rPr>
              <a:t>• Safety:** alertness, reaction time, accident prevention</a:t>
            </a:r>
          </a:p>
          <a:p>
            <a:r>
              <a:rPr sz="1600">
                <a:solidFill>
                  <a:srgbClr val="221A42"/>
                </a:solidFill>
                <a:latin typeface="Arial"/>
              </a:rPr>
              <a:t>• Chronic insufficient sleep is associated with increased health risks.</a:t>
            </a:r>
          </a:p>
          <a:p>
            <a:r>
              <a:rPr sz="1600">
                <a:solidFill>
                  <a:srgbClr val="221A42"/>
                </a:solidFill>
                <a:latin typeface="Arial"/>
              </a:rPr>
              <a:t>• Anchor reminder:** **Rest can pause the drain, but sleep does the repair.</a:t>
            </a:r>
          </a:p>
          <a:p>
            <a:r>
              <a:rPr sz="1600">
                <a:solidFill>
                  <a:srgbClr val="221A42"/>
                </a:solidFill>
                <a:latin typeface="Arial"/>
              </a:rPr>
              <a:t>• Suggested Visual:** Body systems icon set</a:t>
            </a:r>
          </a:p>
          <a:p>
            <a:r>
              <a:rPr sz="1600">
                <a:solidFill>
                  <a:srgbClr val="221A42"/>
                </a:solidFill>
                <a:latin typeface="Arial"/>
              </a:rPr>
              <a:t>• Footer:** `QRU Learning | Understanding Sleep and Rest`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Slide 4: Rest, Relaxation, Quiet Wakefulness, Naps, and Sleep</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These are related — but not identical.</a:t>
            </a:r>
          </a:p>
          <a:p>
            <a:r>
              <a:rPr sz="1600">
                <a:solidFill>
                  <a:srgbClr val="221A42"/>
                </a:solidFill>
                <a:latin typeface="Arial"/>
              </a:rPr>
              <a:t>• | State | What It Means | What It Can Do | What It Cannot Fully Do |</a:t>
            </a:r>
          </a:p>
          <a:p>
            <a:r>
              <a:rPr sz="1600">
                <a:solidFill>
                  <a:srgbClr val="221A42"/>
                </a:solidFill>
                <a:latin typeface="Arial"/>
              </a:rPr>
              <a:t>• |---|---|---|---|</a:t>
            </a:r>
          </a:p>
          <a:p>
            <a:r>
              <a:rPr sz="1600">
                <a:solidFill>
                  <a:srgbClr val="221A42"/>
                </a:solidFill>
                <a:latin typeface="Arial"/>
              </a:rPr>
              <a:t>• | **Rest** | Reducing effort while awake | Conserves energy | Replace sleep cycles |</a:t>
            </a:r>
          </a:p>
          <a:p>
            <a:r>
              <a:rPr sz="1600">
                <a:solidFill>
                  <a:srgbClr val="221A42"/>
                </a:solidFill>
                <a:latin typeface="Arial"/>
              </a:rPr>
              <a:t>• | **Relaxation** | Calming the body and mind | Lowers arousal and stress | Perform all sleep functions |</a:t>
            </a:r>
          </a:p>
          <a:p>
            <a:r>
              <a:rPr sz="1600">
                <a:solidFill>
                  <a:srgbClr val="221A42"/>
                </a:solidFill>
                <a:latin typeface="Arial"/>
              </a:rPr>
              <a:t>• | **Quiet wakefulness** | Lying or sitting quietly while awake | Gives the brain a break | Equal true sleep |</a:t>
            </a:r>
          </a:p>
          <a:p>
            <a:r>
              <a:rPr sz="1600">
                <a:solidFill>
                  <a:srgbClr val="221A42"/>
                </a:solidFill>
                <a:latin typeface="Arial"/>
              </a:rPr>
              <a:t>• | **Nap** | A short period of sleep, if sleep occurs | Improves alertness for some people | Replace full nightly sleep |</a:t>
            </a:r>
          </a:p>
          <a:p>
            <a:r>
              <a:rPr sz="1600">
                <a:solidFill>
                  <a:srgbClr val="221A42"/>
                </a:solidFill>
                <a:latin typeface="Arial"/>
              </a:rPr>
              <a:t>• | **True sleep** | NREM and REM sleep cycles | Supports repair, memory, mood, and regulation | Optional — it is essential |</a:t>
            </a:r>
          </a:p>
          <a:p>
            <a:r>
              <a:rPr sz="1600">
                <a:solidFill>
                  <a:srgbClr val="221A42"/>
                </a:solidFill>
                <a:latin typeface="Arial"/>
              </a:rPr>
              <a:t>• Bottom line:** Rest helps. Sleep is different.</a:t>
            </a:r>
          </a:p>
          <a:p>
            <a:r>
              <a:rPr sz="1600">
                <a:solidFill>
                  <a:srgbClr val="221A42"/>
                </a:solidFill>
                <a:latin typeface="Arial"/>
              </a:rPr>
              <a:t>• Suggested Visual:** Five labeled icons: chair, breathing, closed eyes, clock, bed</a:t>
            </a:r>
          </a:p>
          <a:p>
            <a:r>
              <a:rPr sz="1600">
                <a:solidFill>
                  <a:srgbClr val="221A42"/>
                </a:solidFill>
                <a:latin typeface="Arial"/>
              </a:rPr>
              <a:t>• Footer:** `QRU Learning | Understanding Sleep and Rest`</a:t>
            </a:r>
          </a:p>
          <a:p>
            <a:r>
              <a:rPr sz="1600">
                <a:solidFill>
                  <a:srgbClr val="221A42"/>
                </a:solidFill>
                <a:latin typeface="Arial"/>
              </a:rPr>
              <a:t>• Speaker Notes: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Slide 5: What True Sleep Does</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Sleep happens in repeating cycles.</a:t>
            </a:r>
          </a:p>
          <a:p>
            <a:r>
              <a:rPr sz="1600">
                <a:solidFill>
                  <a:srgbClr val="221A42"/>
                </a:solidFill>
                <a:latin typeface="Arial"/>
              </a:rPr>
              <a:t>• During the night, the body moves through:</a:t>
            </a:r>
          </a:p>
          <a:p>
            <a:r>
              <a:rPr sz="1600">
                <a:solidFill>
                  <a:srgbClr val="221A42"/>
                </a:solidFill>
                <a:latin typeface="Arial"/>
              </a:rPr>
              <a:t>• NREM sleep:** lighter sleep and deeper sleep</a:t>
            </a:r>
          </a:p>
          <a:p>
            <a:r>
              <a:rPr sz="1600">
                <a:solidFill>
                  <a:srgbClr val="221A42"/>
                </a:solidFill>
                <a:latin typeface="Arial"/>
              </a:rPr>
              <a:t>• REM sleep:** dream-rich sleep linked with emotion and memory processing</a:t>
            </a:r>
          </a:p>
          <a:p>
            <a:r>
              <a:rPr sz="1600">
                <a:solidFill>
                  <a:srgbClr val="221A42"/>
                </a:solidFill>
                <a:latin typeface="Arial"/>
              </a:rPr>
              <a:t>• Multiple cycles:** repeated across the night</a:t>
            </a:r>
          </a:p>
          <a:p>
            <a:r>
              <a:rPr sz="1600">
                <a:solidFill>
                  <a:srgbClr val="221A42"/>
                </a:solidFill>
                <a:latin typeface="Arial"/>
              </a:rPr>
              <a:t>• Sleep supports:</a:t>
            </a:r>
          </a:p>
          <a:p>
            <a:r>
              <a:rPr sz="1600">
                <a:solidFill>
                  <a:srgbClr val="221A42"/>
                </a:solidFill>
                <a:latin typeface="Arial"/>
              </a:rPr>
              <a:t>• Memory consolidation</a:t>
            </a:r>
          </a:p>
          <a:p>
            <a:r>
              <a:rPr sz="1600">
                <a:solidFill>
                  <a:srgbClr val="221A42"/>
                </a:solidFill>
                <a:latin typeface="Arial"/>
              </a:rPr>
              <a:t>• Emotional processing</a:t>
            </a:r>
          </a:p>
          <a:p>
            <a:r>
              <a:rPr sz="1600">
                <a:solidFill>
                  <a:srgbClr val="221A42"/>
                </a:solidFill>
                <a:latin typeface="Arial"/>
              </a:rPr>
              <a:t>• Physical recovery</a:t>
            </a:r>
          </a:p>
          <a:p>
            <a:r>
              <a:rPr sz="1600">
                <a:solidFill>
                  <a:srgbClr val="221A42"/>
                </a:solidFill>
                <a:latin typeface="Arial"/>
              </a:rPr>
              <a:t>• Immune and hormone regulation</a:t>
            </a:r>
          </a:p>
          <a:p>
            <a:r>
              <a:rPr sz="1600">
                <a:solidFill>
                  <a:srgbClr val="221A42"/>
                </a:solidFill>
                <a:latin typeface="Arial"/>
              </a:rPr>
              <a:t>• Brain waste-clearance processes</a:t>
            </a:r>
          </a:p>
          <a:p>
            <a:r>
              <a:rPr sz="1600">
                <a:solidFill>
                  <a:srgbClr val="221A42"/>
                </a:solidFill>
                <a:latin typeface="Arial"/>
              </a:rPr>
              <a:t>• Key idea:** Different stages do different jobs.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Slide 6: How Much Sleep Do People Need?</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Sleep needs vary by age.</a:t>
            </a:r>
          </a:p>
          <a:p>
            <a:r>
              <a:rPr sz="1600">
                <a:solidFill>
                  <a:srgbClr val="221A42"/>
                </a:solidFill>
                <a:latin typeface="Arial"/>
              </a:rPr>
              <a:t>• General guidance:</a:t>
            </a:r>
          </a:p>
          <a:p>
            <a:r>
              <a:rPr sz="1600">
                <a:solidFill>
                  <a:srgbClr val="221A42"/>
                </a:solidFill>
                <a:latin typeface="Arial"/>
              </a:rPr>
              <a:t>• Most adults:** 7 or more hours per night</a:t>
            </a:r>
          </a:p>
          <a:p>
            <a:r>
              <a:rPr sz="1600">
                <a:solidFill>
                  <a:srgbClr val="221A42"/>
                </a:solidFill>
                <a:latin typeface="Arial"/>
              </a:rPr>
              <a:t>• Teens:** usually need more than adults</a:t>
            </a:r>
          </a:p>
          <a:p>
            <a:r>
              <a:rPr sz="1600">
                <a:solidFill>
                  <a:srgbClr val="221A42"/>
                </a:solidFill>
                <a:latin typeface="Arial"/>
              </a:rPr>
              <a:t>• Children:** need even more for growth and development</a:t>
            </a:r>
          </a:p>
          <a:p>
            <a:r>
              <a:rPr sz="1600">
                <a:solidFill>
                  <a:srgbClr val="221A42"/>
                </a:solidFill>
                <a:latin typeface="Arial"/>
              </a:rPr>
              <a:t>• Older adults:** still need adequate sleep, even if sleep patterns change</a:t>
            </a:r>
          </a:p>
          <a:p>
            <a:r>
              <a:rPr sz="1600">
                <a:solidFill>
                  <a:srgbClr val="221A42"/>
                </a:solidFill>
                <a:latin typeface="Arial"/>
              </a:rPr>
              <a:t>• Quality matters too:</a:t>
            </a:r>
          </a:p>
          <a:p>
            <a:r>
              <a:rPr sz="1600">
                <a:solidFill>
                  <a:srgbClr val="221A42"/>
                </a:solidFill>
                <a:latin typeface="Arial"/>
              </a:rPr>
              <a:t>• Enough time asleep</a:t>
            </a:r>
          </a:p>
          <a:p>
            <a:r>
              <a:rPr sz="1600">
                <a:solidFill>
                  <a:srgbClr val="221A42"/>
                </a:solidFill>
                <a:latin typeface="Arial"/>
              </a:rPr>
              <a:t>• Regular sleep and wake schedule</a:t>
            </a:r>
          </a:p>
          <a:p>
            <a:r>
              <a:rPr sz="1600">
                <a:solidFill>
                  <a:srgbClr val="221A42"/>
                </a:solidFill>
                <a:latin typeface="Arial"/>
              </a:rPr>
              <a:t>• Feeling reasonably alert during the day</a:t>
            </a:r>
          </a:p>
          <a:p>
            <a:r>
              <a:rPr sz="1600">
                <a:solidFill>
                  <a:srgbClr val="221A42"/>
                </a:solidFill>
                <a:latin typeface="Arial"/>
              </a:rPr>
              <a:t>• Waking refreshed most days</a:t>
            </a:r>
          </a:p>
          <a:p>
            <a:r>
              <a:rPr sz="1600">
                <a:solidFill>
                  <a:srgbClr val="221A42"/>
                </a:solidFill>
                <a:latin typeface="Arial"/>
              </a:rPr>
              <a:t>• Suggested Visual:** Clock + age-group icons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Slide 7: Practical Sleep Hygiene Steps</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Build a repair-friendly night.</a:t>
            </a:r>
          </a:p>
          <a:p>
            <a:r>
              <a:rPr sz="1600">
                <a:solidFill>
                  <a:srgbClr val="221A42"/>
                </a:solidFill>
                <a:latin typeface="Arial"/>
              </a:rPr>
              <a:t>• Try these evidence-based habits:</a:t>
            </a:r>
          </a:p>
          <a:p>
            <a:r>
              <a:rPr sz="1600">
                <a:solidFill>
                  <a:srgbClr val="221A42"/>
                </a:solidFill>
                <a:latin typeface="Arial"/>
              </a:rPr>
              <a:t>• Keep a consistent wake time, including weekends.</a:t>
            </a:r>
          </a:p>
          <a:p>
            <a:r>
              <a:rPr sz="1600">
                <a:solidFill>
                  <a:srgbClr val="221A42"/>
                </a:solidFill>
                <a:latin typeface="Arial"/>
              </a:rPr>
              <a:t>• Get bright light in the morning.</a:t>
            </a:r>
          </a:p>
          <a:p>
            <a:r>
              <a:rPr sz="1600">
                <a:solidFill>
                  <a:srgbClr val="221A42"/>
                </a:solidFill>
                <a:latin typeface="Arial"/>
              </a:rPr>
              <a:t>• Dim lights and reduce screens before bed.</a:t>
            </a:r>
          </a:p>
          <a:p>
            <a:r>
              <a:rPr sz="1600">
                <a:solidFill>
                  <a:srgbClr val="221A42"/>
                </a:solidFill>
                <a:latin typeface="Arial"/>
              </a:rPr>
              <a:t>• Create a calming wind-down routine.</a:t>
            </a:r>
          </a:p>
          <a:p>
            <a:r>
              <a:rPr sz="1600">
                <a:solidFill>
                  <a:srgbClr val="221A42"/>
                </a:solidFill>
                <a:latin typeface="Arial"/>
              </a:rPr>
              <a:t>• Keep the bedroom cool, dark, quiet, and comfortable.</a:t>
            </a:r>
          </a:p>
          <a:p>
            <a:r>
              <a:rPr sz="1600">
                <a:solidFill>
                  <a:srgbClr val="221A42"/>
                </a:solidFill>
                <a:latin typeface="Arial"/>
              </a:rPr>
              <a:t>• Limit caffeine later in the day.</a:t>
            </a:r>
          </a:p>
          <a:p>
            <a:r>
              <a:rPr sz="1600">
                <a:solidFill>
                  <a:srgbClr val="221A42"/>
                </a:solidFill>
                <a:latin typeface="Arial"/>
              </a:rPr>
              <a:t>• Avoid heavy meals and alcohol close to bedtime.</a:t>
            </a:r>
          </a:p>
          <a:p>
            <a:r>
              <a:rPr sz="1600">
                <a:solidFill>
                  <a:srgbClr val="221A42"/>
                </a:solidFill>
                <a:latin typeface="Arial"/>
              </a:rPr>
              <a:t>• Move your body regularly, but avoid intense exercise right before bed.</a:t>
            </a:r>
          </a:p>
          <a:p>
            <a:r>
              <a:rPr sz="1600">
                <a:solidFill>
                  <a:srgbClr val="221A42"/>
                </a:solidFill>
                <a:latin typeface="Arial"/>
              </a:rPr>
              <a:t>• If you cannot sleep, get up briefly and do something quiet until sleepy.</a:t>
            </a:r>
          </a:p>
          <a:p>
            <a:r>
              <a:rPr sz="1600">
                <a:solidFill>
                  <a:srgbClr val="221A42"/>
                </a:solidFill>
                <a:latin typeface="Arial"/>
              </a:rPr>
              <a:t>• Anchor reminder:** Rest helps you prepare for sleep.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Slide 8: When Rest and Naps Help — and Their Limits</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Use rest wisely.</a:t>
            </a:r>
          </a:p>
          <a:p>
            <a:r>
              <a:rPr sz="1600">
                <a:solidFill>
                  <a:srgbClr val="221A42"/>
                </a:solidFill>
                <a:latin typeface="Arial"/>
              </a:rPr>
              <a:t>• Rest can help when you are:</a:t>
            </a:r>
          </a:p>
          <a:p>
            <a:r>
              <a:rPr sz="1600">
                <a:solidFill>
                  <a:srgbClr val="221A42"/>
                </a:solidFill>
                <a:latin typeface="Arial"/>
              </a:rPr>
              <a:t>• Mentally overloaded</a:t>
            </a:r>
          </a:p>
          <a:p>
            <a:r>
              <a:rPr sz="1600">
                <a:solidFill>
                  <a:srgbClr val="221A42"/>
                </a:solidFill>
                <a:latin typeface="Arial"/>
              </a:rPr>
              <a:t>• Emotionally stressed</a:t>
            </a:r>
          </a:p>
          <a:p>
            <a:r>
              <a:rPr sz="1600">
                <a:solidFill>
                  <a:srgbClr val="221A42"/>
                </a:solidFill>
                <a:latin typeface="Arial"/>
              </a:rPr>
              <a:t>• Physically fatigued</a:t>
            </a:r>
          </a:p>
          <a:p>
            <a:r>
              <a:rPr sz="1600">
                <a:solidFill>
                  <a:srgbClr val="221A42"/>
                </a:solidFill>
                <a:latin typeface="Arial"/>
              </a:rPr>
              <a:t>• Recovering between demanding tasks</a:t>
            </a:r>
          </a:p>
          <a:p>
            <a:r>
              <a:rPr sz="1600">
                <a:solidFill>
                  <a:srgbClr val="221A42"/>
                </a:solidFill>
                <a:latin typeface="Arial"/>
              </a:rPr>
              <a:t>• Naps may help when they are:</a:t>
            </a:r>
          </a:p>
          <a:p>
            <a:r>
              <a:rPr sz="1600">
                <a:solidFill>
                  <a:srgbClr val="221A42"/>
                </a:solidFill>
                <a:latin typeface="Arial"/>
              </a:rPr>
              <a:t>• Short, often about 10–30 minutes</a:t>
            </a:r>
          </a:p>
          <a:p>
            <a:r>
              <a:rPr sz="1600">
                <a:solidFill>
                  <a:srgbClr val="221A42"/>
                </a:solidFill>
                <a:latin typeface="Arial"/>
              </a:rPr>
              <a:t>• Earlier in the day</a:t>
            </a:r>
          </a:p>
          <a:p>
            <a:r>
              <a:rPr sz="1600">
                <a:solidFill>
                  <a:srgbClr val="221A42"/>
                </a:solidFill>
                <a:latin typeface="Arial"/>
              </a:rPr>
              <a:t>• Used for alertness, not as a nightly sleep replacement</a:t>
            </a:r>
          </a:p>
          <a:p>
            <a:r>
              <a:rPr sz="1600">
                <a:solidFill>
                  <a:srgbClr val="221A42"/>
                </a:solidFill>
                <a:latin typeface="Arial"/>
              </a:rPr>
              <a:t>• Be cautious with naps if they:</a:t>
            </a:r>
          </a:p>
          <a:p>
            <a:r>
              <a:rPr sz="1600">
                <a:solidFill>
                  <a:srgbClr val="221A42"/>
                </a:solidFill>
                <a:latin typeface="Arial"/>
              </a:rPr>
              <a:t>• Make it harder to sleep at night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Slide 9: When to Seek Medical Help</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Sleep problems deserve attention.</a:t>
            </a:r>
          </a:p>
          <a:p>
            <a:r>
              <a:rPr sz="1600">
                <a:solidFill>
                  <a:srgbClr val="221A42"/>
                </a:solidFill>
                <a:latin typeface="Arial"/>
              </a:rPr>
              <a:t>• Consider talking with a healthcare professional if you notice:</a:t>
            </a:r>
          </a:p>
          <a:p>
            <a:r>
              <a:rPr sz="1600">
                <a:solidFill>
                  <a:srgbClr val="221A42"/>
                </a:solidFill>
                <a:latin typeface="Arial"/>
              </a:rPr>
              <a:t>• Trouble falling or staying asleep for weeks or months</a:t>
            </a:r>
          </a:p>
          <a:p>
            <a:r>
              <a:rPr sz="1600">
                <a:solidFill>
                  <a:srgbClr val="221A42"/>
                </a:solidFill>
                <a:latin typeface="Arial"/>
              </a:rPr>
              <a:t>• Loud, frequent snoring</a:t>
            </a:r>
          </a:p>
          <a:p>
            <a:r>
              <a:rPr sz="1600">
                <a:solidFill>
                  <a:srgbClr val="221A42"/>
                </a:solidFill>
                <a:latin typeface="Arial"/>
              </a:rPr>
              <a:t>• Pauses in breathing, gasping, or choking during sleep</a:t>
            </a:r>
          </a:p>
          <a:p>
            <a:r>
              <a:rPr sz="1600">
                <a:solidFill>
                  <a:srgbClr val="221A42"/>
                </a:solidFill>
                <a:latin typeface="Arial"/>
              </a:rPr>
              <a:t>• Excessive daytime sleepiness</a:t>
            </a:r>
          </a:p>
          <a:p>
            <a:r>
              <a:rPr sz="1600">
                <a:solidFill>
                  <a:srgbClr val="221A42"/>
                </a:solidFill>
                <a:latin typeface="Arial"/>
              </a:rPr>
              <a:t>• Falling asleep during work, school, conversations, or meals</a:t>
            </a:r>
          </a:p>
          <a:p>
            <a:r>
              <a:rPr sz="1600">
                <a:solidFill>
                  <a:srgbClr val="221A42"/>
                </a:solidFill>
                <a:latin typeface="Arial"/>
              </a:rPr>
              <a:t>• Unsafe drowsiness while driving</a:t>
            </a:r>
          </a:p>
          <a:p>
            <a:r>
              <a:rPr sz="1600">
                <a:solidFill>
                  <a:srgbClr val="221A42"/>
                </a:solidFill>
                <a:latin typeface="Arial"/>
              </a:rPr>
              <a:t>• Morning headaches or dry mouth with snoring</a:t>
            </a:r>
          </a:p>
          <a:p>
            <a:r>
              <a:rPr sz="1600">
                <a:solidFill>
                  <a:srgbClr val="221A42"/>
                </a:solidFill>
                <a:latin typeface="Arial"/>
              </a:rPr>
              <a:t>• Restless legs or uncomfortable urges to move at night</a:t>
            </a:r>
          </a:p>
          <a:p>
            <a:r>
              <a:rPr sz="1600">
                <a:solidFill>
                  <a:srgbClr val="221A42"/>
                </a:solidFill>
                <a:latin typeface="Arial"/>
              </a:rPr>
              <a:t>• Sleep problems affecting mood, safety, health, or daily life</a:t>
            </a:r>
          </a:p>
          <a:p>
            <a:r>
              <a:rPr sz="1600">
                <a:solidFill>
                  <a:srgbClr val="221A42"/>
                </a:solidFill>
                <a:latin typeface="Arial"/>
              </a:rPr>
              <a:t>• Safety rule:** If you are too drowsy to drive, do not drive.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Slide 10: Final Takeaways, Next Steps, and Sources</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 Final Takeaways</a:t>
            </a:r>
          </a:p>
          <a:p>
            <a:r>
              <a:rPr sz="1600">
                <a:solidFill>
                  <a:srgbClr val="221A42"/>
                </a:solidFill>
                <a:latin typeface="Arial"/>
              </a:rPr>
              <a:t>• Sleep is active biological maintenance.</a:t>
            </a:r>
          </a:p>
          <a:p>
            <a:r>
              <a:rPr sz="1600">
                <a:solidFill>
                  <a:srgbClr val="221A42"/>
                </a:solidFill>
                <a:latin typeface="Arial"/>
              </a:rPr>
              <a:t>• Rest, relaxation, and quiet wakefulness are helpful — but they are not the same as true sleep.</a:t>
            </a:r>
          </a:p>
          <a:p>
            <a:r>
              <a:rPr sz="1600">
                <a:solidFill>
                  <a:srgbClr val="221A42"/>
                </a:solidFill>
                <a:latin typeface="Arial"/>
              </a:rPr>
              <a:t>• Naps can support alertness, but they do not fully replace consistent nighttime sleep.</a:t>
            </a:r>
          </a:p>
          <a:p>
            <a:r>
              <a:rPr sz="1600">
                <a:solidFill>
                  <a:srgbClr val="221A42"/>
                </a:solidFill>
                <a:latin typeface="Arial"/>
              </a:rPr>
              <a:t>• Sleep supports memory, mood, immune function, metabolism, safety, and overall health.</a:t>
            </a:r>
          </a:p>
          <a:p>
            <a:r>
              <a:rPr sz="1600">
                <a:solidFill>
                  <a:srgbClr val="221A42"/>
                </a:solidFill>
                <a:latin typeface="Arial"/>
              </a:rPr>
              <a:t>• Rest can pause the drain, but sleep does the repair.</a:t>
            </a:r>
          </a:p>
          <a:p>
            <a:r>
              <a:rPr sz="1600">
                <a:solidFill>
                  <a:srgbClr val="221A42"/>
                </a:solidFill>
                <a:latin typeface="Arial"/>
              </a:rPr>
              <a:t>• ### Safe Next Steps</a:t>
            </a:r>
          </a:p>
          <a:p>
            <a:r>
              <a:rPr sz="1600">
                <a:solidFill>
                  <a:srgbClr val="221A42"/>
                </a:solidFill>
                <a:latin typeface="Arial"/>
              </a:rPr>
              <a:t>• Choose one sleep hygiene habit to practice this week.</a:t>
            </a:r>
          </a:p>
          <a:p>
            <a:r>
              <a:rPr sz="1600">
                <a:solidFill>
                  <a:srgbClr val="221A42"/>
                </a:solidFill>
                <a:latin typeface="Arial"/>
              </a:rPr>
              <a:t>• Track sleep timing, daytime alertness, and patterns.</a:t>
            </a:r>
          </a:p>
          <a:p>
            <a:r>
              <a:rPr sz="1600">
                <a:solidFill>
                  <a:srgbClr val="221A42"/>
                </a:solidFill>
                <a:latin typeface="Arial"/>
              </a:rPr>
              <a:t>• Seek medical help for chronic insomnia, loud snoring, breathing pauses, severe daytime sleepiness, or unsafe drowsiness.</a:t>
            </a:r>
          </a:p>
          <a:p>
            <a:r>
              <a:rPr sz="1600">
                <a:solidFill>
                  <a:srgbClr val="221A42"/>
                </a:solidFill>
                <a:latin typeface="Arial"/>
              </a:rPr>
              <a:t>• ### Selected Sources</a:t>
            </a:r>
          </a:p>
          <a:p>
            <a:r>
              <a:rPr sz="1600">
                <a:solidFill>
                  <a:srgbClr val="221A42"/>
                </a:solidFill>
                <a:latin typeface="Arial"/>
              </a:rPr>
              <a:t>• Centers for Disease Control and Prevention. **Sleep and Sleep Disorders.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