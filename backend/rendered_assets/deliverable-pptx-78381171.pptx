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5106A"/>
        </a:solidFill>
        <a:effectLst/>
      </p:bgPr>
    </p:bg>
    <p:spTree>
      <p:nvGrpSpPr>
        <p:cNvPr id="1" name=""/>
        <p:cNvGrpSpPr/>
        <p:nvPr/>
      </p:nvGrpSpPr>
      <p:grpSpPr/>
      <p:sp>
        <p:nvSpPr>
          <p:cNvPr id="2" name="TextBox 1"/>
          <p:cNvSpPr txBox="1"/>
          <p:nvPr/>
        </p:nvSpPr>
        <p:spPr>
          <a:xfrm>
            <a:off x="731520" y="2011680"/>
            <a:ext cx="10698480" cy="1097280"/>
          </a:xfrm>
          <a:prstGeom prst="rect">
            <a:avLst/>
          </a:prstGeom>
          <a:noFill/>
        </p:spPr>
        <p:txBody>
          <a:bodyPr wrap="square">
            <a:spAutoFit/>
          </a:bodyPr>
          <a:lstStyle/>
          <a:p>
            <a:r>
              <a:rPr sz="1600" b="1">
                <a:solidFill>
                  <a:srgbClr val="F5B21A"/>
                </a:solidFill>
                <a:latin typeface="Arial"/>
              </a:rPr>
              <a:t>QRU PRESS™ · Health</a:t>
            </a:r>
          </a:p>
        </p:txBody>
      </p:sp>
      <p:sp>
        <p:nvSpPr>
          <p:cNvPr id="3" name="TextBox 2"/>
          <p:cNvSpPr txBox="1"/>
          <p:nvPr/>
        </p:nvSpPr>
        <p:spPr>
          <a:xfrm>
            <a:off x="731520" y="2651760"/>
            <a:ext cx="10698480" cy="1097280"/>
          </a:xfrm>
          <a:prstGeom prst="rect">
            <a:avLst/>
          </a:prstGeom>
          <a:noFill/>
        </p:spPr>
        <p:txBody>
          <a:bodyPr wrap="square">
            <a:spAutoFit/>
          </a:bodyPr>
          <a:lstStyle/>
          <a:p>
            <a:r>
              <a:rPr sz="4000" b="1">
                <a:solidFill>
                  <a:srgbClr val="FFFFFF"/>
                </a:solidFill>
                <a:latin typeface="Arial"/>
              </a:rPr>
              <a:t>QRU Factory Acceptance Test — Understanding Sleep and Rest — Presentation</a:t>
            </a:r>
          </a:p>
        </p:txBody>
      </p:sp>
      <p:sp>
        <p:nvSpPr>
          <p:cNvPr id="4" name="TextBox 3"/>
          <p:cNvSpPr txBox="1"/>
          <p:nvPr/>
        </p:nvSpPr>
        <p:spPr>
          <a:xfrm>
            <a:off x="731520" y="4754880"/>
            <a:ext cx="10698480" cy="1097280"/>
          </a:xfrm>
          <a:prstGeom prst="rect">
            <a:avLst/>
          </a:prstGeom>
          <a:noFill/>
        </p:spPr>
        <p:txBody>
          <a:bodyPr wrap="square">
            <a:spAutoFit/>
          </a:bodyPr>
          <a:lstStyle/>
          <a:p>
            <a:r>
              <a:rPr sz="1600" b="1">
                <a:solidFill>
                  <a:srgbClr val="F5B21A"/>
                </a:solidFill>
                <a:latin typeface="Arial"/>
              </a:rPr>
              <a:t>Treasure Standard™ Certified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Understanding Sleep and Rest</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Core Question: Why do humans need sleep, and can rest replace it?</a:t>
            </a:r>
          </a:p>
          <a:p>
            <a:r>
              <a:rPr sz="1600">
                <a:solidFill>
                  <a:srgbClr val="221A42"/>
                </a:solidFill>
                <a:latin typeface="Arial"/>
              </a:rPr>
              <a:t>• Presentation Design Standard:</a:t>
            </a:r>
          </a:p>
          <a:p>
            <a:r>
              <a:rPr sz="1600">
                <a:solidFill>
                  <a:srgbClr val="221A42"/>
                </a:solidFill>
                <a:latin typeface="Arial"/>
              </a:rPr>
              <a:t>• Clean, calm, health-education style. Use a deep navy background, warm white text, soft blue accents, and simple line icons. Keep each slide readable: no more than 4–5 main bullets per slide.</a:t>
            </a:r>
          </a:p>
          <a:p>
            <a:r>
              <a:rPr sz="1600">
                <a:solidFill>
                  <a:srgbClr val="221A42"/>
                </a:solidFill>
                <a:latin typeface="Arial"/>
              </a:rPr>
              <a:t>• QRU Learning Promise:</a:t>
            </a:r>
          </a:p>
          <a:p>
            <a:r>
              <a:rPr sz="1600">
                <a:solidFill>
                  <a:srgbClr val="221A42"/>
                </a:solidFill>
                <a:latin typeface="Arial"/>
              </a:rPr>
              <a:t>• Clear science. Practical choices. Better daily decisions.</a:t>
            </a:r>
          </a:p>
          <a:p>
            <a:r>
              <a:rPr sz="1600">
                <a:solidFill>
                  <a:srgbClr val="221A42"/>
                </a:solidFill>
                <a:latin typeface="Arial"/>
              </a:rPr>
              <a:t>• Subtle Footer for Every Slide:</a:t>
            </a:r>
          </a:p>
          <a:p>
            <a:r>
              <a:rPr sz="1600">
                <a:solidFill>
                  <a:srgbClr val="221A42"/>
                </a:solidFill>
                <a:latin typeface="Arial"/>
              </a:rPr>
              <a:t>• QRU Learning Promise: Clear science. Practical choices. Better daily decisions.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 — Sleep Is Not “Doing Nothing”</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Sleep is a biologically essential process.</a:t>
            </a:r>
          </a:p>
          <a:p>
            <a:r>
              <a:rPr sz="1600">
                <a:solidFill>
                  <a:srgbClr val="221A42"/>
                </a:solidFill>
                <a:latin typeface="Arial"/>
              </a:rPr>
              <a:t>• It supports the brain, body, emotions, and recovery.</a:t>
            </a:r>
          </a:p>
          <a:p>
            <a:r>
              <a:rPr sz="1600">
                <a:solidFill>
                  <a:srgbClr val="221A42"/>
                </a:solidFill>
                <a:latin typeface="Arial"/>
              </a:rPr>
              <a:t>• Most adults need **7 or more hours** per night.</a:t>
            </a:r>
          </a:p>
          <a:p>
            <a:r>
              <a:rPr sz="1600">
                <a:solidFill>
                  <a:srgbClr val="221A42"/>
                </a:solidFill>
                <a:latin typeface="Arial"/>
              </a:rPr>
              <a:t>• Rest helps, but it does **not** fully replace sleep.</a:t>
            </a:r>
          </a:p>
          <a:p>
            <a:r>
              <a:rPr sz="1600">
                <a:solidFill>
                  <a:srgbClr val="221A42"/>
                </a:solidFill>
                <a:latin typeface="Arial"/>
              </a:rPr>
              <a:t>• Design Direction:</a:t>
            </a:r>
          </a:p>
          <a:p>
            <a:r>
              <a:rPr sz="1600">
                <a:solidFill>
                  <a:srgbClr val="221A42"/>
                </a:solidFill>
                <a:latin typeface="Arial"/>
              </a:rPr>
              <a:t>• Use a simple visual of a sleeping person with subtle icons around them: brain, heart, shield, battery.</a:t>
            </a:r>
          </a:p>
          <a:p>
            <a:r>
              <a:rPr sz="1600">
                <a:solidFill>
                  <a:srgbClr val="221A42"/>
                </a:solidFill>
                <a:latin typeface="Arial"/>
              </a:rPr>
              <a:t>• Speaker Notes:</a:t>
            </a:r>
          </a:p>
          <a:p>
            <a:r>
              <a:rPr sz="1600">
                <a:solidFill>
                  <a:srgbClr val="221A42"/>
                </a:solidFill>
                <a:latin typeface="Arial"/>
              </a:rPr>
              <a:t>• Sleep can look passive from the outside, but inside the body, important maintenance is happening. Sleep supports brain function, immune regulation, cardiovascular health, metabolism, emotional regulation, and physical recovery.</a:t>
            </a:r>
          </a:p>
          <a:p>
            <a:r>
              <a:rPr sz="1600">
                <a:solidFill>
                  <a:srgbClr val="221A42"/>
                </a:solidFill>
                <a:latin typeface="Arial"/>
              </a:rPr>
              <a:t>• Rest is valuable, but it is not the same as sleep. A quiet break can reduce strain, calm the nervous system, and help someone get through the day. But sleep performs deeper biological work that ordinary rest cannot fully duplicate.</a:t>
            </a:r>
          </a:p>
          <a:p>
            <a:r>
              <a:rPr sz="1600">
                <a:solidFill>
                  <a:srgbClr val="221A42"/>
                </a:solidFill>
                <a:latin typeface="Arial"/>
              </a:rPr>
              <a:t>• The key idea for this session is simple:</a:t>
            </a:r>
          </a:p>
          <a:p>
            <a:r>
              <a:rPr sz="1600">
                <a:solidFill>
                  <a:srgbClr val="221A42"/>
                </a:solidFill>
                <a:latin typeface="Arial"/>
              </a:rPr>
              <a:t>• Rest can pause the drain, but sleep does the repair.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2 — Learning Objectives and Key Terms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By the end, learners should be able to:</a:t>
            </a:r>
          </a:p>
          <a:p>
            <a:r>
              <a:rPr sz="1600">
                <a:solidFill>
                  <a:srgbClr val="221A42"/>
                </a:solidFill>
                <a:latin typeface="Arial"/>
              </a:rPr>
              <a:t>• 1. Explain why humans need sleep.</a:t>
            </a:r>
          </a:p>
          <a:p>
            <a:r>
              <a:rPr sz="1600">
                <a:solidFill>
                  <a:srgbClr val="221A42"/>
                </a:solidFill>
                <a:latin typeface="Arial"/>
              </a:rPr>
              <a:t>• 2. Describe what happens during sleep.</a:t>
            </a:r>
          </a:p>
          <a:p>
            <a:r>
              <a:rPr sz="1600">
                <a:solidFill>
                  <a:srgbClr val="221A42"/>
                </a:solidFill>
                <a:latin typeface="Arial"/>
              </a:rPr>
              <a:t>• 3. Distinguish **rest** from **sleep**.</a:t>
            </a:r>
          </a:p>
          <a:p>
            <a:r>
              <a:rPr sz="1600">
                <a:solidFill>
                  <a:srgbClr val="221A42"/>
                </a:solidFill>
                <a:latin typeface="Arial"/>
              </a:rPr>
              <a:t>• 4. Apply practical habits that support healthier sleep.</a:t>
            </a:r>
          </a:p>
          <a:p>
            <a:r>
              <a:rPr sz="1600">
                <a:solidFill>
                  <a:srgbClr val="221A42"/>
                </a:solidFill>
                <a:latin typeface="Arial"/>
              </a:rPr>
              <a:t>• 5. Identify when to seek medical help.</a:t>
            </a:r>
          </a:p>
          <a:p>
            <a:r>
              <a:rPr sz="1600">
                <a:solidFill>
                  <a:srgbClr val="221A42"/>
                </a:solidFill>
                <a:latin typeface="Arial"/>
              </a:rPr>
              <a:t>• Key Terms</a:t>
            </a:r>
          </a:p>
          <a:p>
            <a:r>
              <a:rPr sz="1600">
                <a:solidFill>
                  <a:srgbClr val="221A42"/>
                </a:solidFill>
                <a:latin typeface="Arial"/>
              </a:rPr>
              <a:t>• Metabolism:** how the body uses and stores energy.</a:t>
            </a:r>
          </a:p>
          <a:p>
            <a:r>
              <a:rPr sz="1600">
                <a:solidFill>
                  <a:srgbClr val="221A42"/>
                </a:solidFill>
                <a:latin typeface="Arial"/>
              </a:rPr>
              <a:t>• Cardiovascular health:** health of the heart and blood vessels.</a:t>
            </a:r>
          </a:p>
          <a:p>
            <a:r>
              <a:rPr sz="1600">
                <a:solidFill>
                  <a:srgbClr val="221A42"/>
                </a:solidFill>
                <a:latin typeface="Arial"/>
              </a:rPr>
              <a:t>• Immune regulation:** how the body controls defense and inflammation.</a:t>
            </a:r>
          </a:p>
          <a:p>
            <a:r>
              <a:rPr sz="1600">
                <a:solidFill>
                  <a:srgbClr val="221A42"/>
                </a:solidFill>
                <a:latin typeface="Arial"/>
              </a:rPr>
              <a:t>• Design Direction: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3 — How Much Sleep Do People Need?</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Most adults need **7 or more hours** per night.</a:t>
            </a:r>
          </a:p>
          <a:p>
            <a:r>
              <a:rPr sz="1600">
                <a:solidFill>
                  <a:srgbClr val="221A42"/>
                </a:solidFill>
                <a:latin typeface="Arial"/>
              </a:rPr>
              <a:t>• Teens and children usually need more than adults.</a:t>
            </a:r>
          </a:p>
          <a:p>
            <a:r>
              <a:rPr sz="1600">
                <a:solidFill>
                  <a:srgbClr val="221A42"/>
                </a:solidFill>
                <a:latin typeface="Arial"/>
              </a:rPr>
              <a:t>• Sleep needs change across life stages.</a:t>
            </a:r>
          </a:p>
          <a:p>
            <a:r>
              <a:rPr sz="1600">
                <a:solidFill>
                  <a:srgbClr val="221A42"/>
                </a:solidFill>
                <a:latin typeface="Arial"/>
              </a:rPr>
              <a:t>• Individual needs vary; “enough” means functioning well.</a:t>
            </a:r>
          </a:p>
          <a:p>
            <a:r>
              <a:rPr sz="1600">
                <a:solidFill>
                  <a:srgbClr val="221A42"/>
                </a:solidFill>
                <a:latin typeface="Arial"/>
              </a:rPr>
              <a:t>• Consistent timing helps support the body’s rhythm.</a:t>
            </a:r>
          </a:p>
          <a:p>
            <a:r>
              <a:rPr sz="1600">
                <a:solidFill>
                  <a:srgbClr val="221A42"/>
                </a:solidFill>
                <a:latin typeface="Arial"/>
              </a:rPr>
              <a:t>• Design Direction:</a:t>
            </a:r>
          </a:p>
          <a:p>
            <a:r>
              <a:rPr sz="1600">
                <a:solidFill>
                  <a:srgbClr val="221A42"/>
                </a:solidFill>
                <a:latin typeface="Arial"/>
              </a:rPr>
              <a:t>• Use a simple age-based sleep need graphic. Keep numbers large and easy to read.</a:t>
            </a:r>
          </a:p>
          <a:p>
            <a:r>
              <a:rPr sz="1600">
                <a:solidFill>
                  <a:srgbClr val="221A42"/>
                </a:solidFill>
                <a:latin typeface="Arial"/>
              </a:rPr>
              <a:t>• Speaker Notes:</a:t>
            </a:r>
          </a:p>
          <a:p>
            <a:r>
              <a:rPr sz="1600">
                <a:solidFill>
                  <a:srgbClr val="221A42"/>
                </a:solidFill>
                <a:latin typeface="Arial"/>
              </a:rPr>
              <a:t>• According to public health guidance, most adults need at least 7 hours of sleep per night. Children and teenagers usually need more because their brains and bodies are still growing and developing.</a:t>
            </a:r>
          </a:p>
          <a:p>
            <a:r>
              <a:rPr sz="1600">
                <a:solidFill>
                  <a:srgbClr val="221A42"/>
                </a:solidFill>
                <a:latin typeface="Arial"/>
              </a:rPr>
              <a:t>• Sleep need can vary from person to person. Some adults may feel and function well around 7 hours, while others may need closer to 8 or 9 hours. The goal is not to hit one exact number for every person. The goal is to get enough sleep to support alertness, mood, learning, health, and safety.</a:t>
            </a:r>
          </a:p>
          <a:p>
            <a:r>
              <a:rPr sz="1600">
                <a:solidFill>
                  <a:srgbClr val="221A42"/>
                </a:solidFill>
                <a:latin typeface="Arial"/>
              </a:rPr>
              <a:t>• It is also important to consider consistency. The body runs on a daily rhythm, often called the circadian rhythm. Going to bed and waking up at roughly similar times helps the body predict when to be alert and when to prepare for sleep.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4 — The Two Sleep Drivers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Sleep is shaped mainly by two systems:</a:t>
            </a:r>
          </a:p>
          <a:p>
            <a:r>
              <a:rPr sz="1600">
                <a:solidFill>
                  <a:srgbClr val="221A42"/>
                </a:solidFill>
                <a:latin typeface="Arial"/>
              </a:rPr>
              <a:t>• Circadian rhythm:** the body’s internal 24-hour clock.</a:t>
            </a:r>
          </a:p>
          <a:p>
            <a:r>
              <a:rPr sz="1600">
                <a:solidFill>
                  <a:srgbClr val="221A42"/>
                </a:solidFill>
                <a:latin typeface="Arial"/>
              </a:rPr>
              <a:t>• Sleep pressure:** the need for sleep that builds while awake.</a:t>
            </a:r>
          </a:p>
          <a:p>
            <a:r>
              <a:rPr sz="1600">
                <a:solidFill>
                  <a:srgbClr val="221A42"/>
                </a:solidFill>
                <a:latin typeface="Arial"/>
              </a:rPr>
              <a:t>• Light strongly influences the circadian rhythm.</a:t>
            </a:r>
          </a:p>
          <a:p>
            <a:r>
              <a:rPr sz="1600">
                <a:solidFill>
                  <a:srgbClr val="221A42"/>
                </a:solidFill>
                <a:latin typeface="Arial"/>
              </a:rPr>
              <a:t>• Sleep pressure lowers during sleep.</a:t>
            </a:r>
          </a:p>
          <a:p>
            <a:r>
              <a:rPr sz="1600">
                <a:solidFill>
                  <a:srgbClr val="221A42"/>
                </a:solidFill>
                <a:latin typeface="Arial"/>
              </a:rPr>
              <a:t>• Design Direction:</a:t>
            </a:r>
          </a:p>
          <a:p>
            <a:r>
              <a:rPr sz="1600">
                <a:solidFill>
                  <a:srgbClr val="221A42"/>
                </a:solidFill>
                <a:latin typeface="Arial"/>
              </a:rPr>
              <a:t>• Show two simple gauges: a 24-hour clock and a “sleep pressure” battery filling during the day.</a:t>
            </a:r>
          </a:p>
          <a:p>
            <a:r>
              <a:rPr sz="1600">
                <a:solidFill>
                  <a:srgbClr val="221A42"/>
                </a:solidFill>
                <a:latin typeface="Arial"/>
              </a:rPr>
              <a:t>• Speaker Notes:</a:t>
            </a:r>
          </a:p>
          <a:p>
            <a:r>
              <a:rPr sz="1600">
                <a:solidFill>
                  <a:srgbClr val="221A42"/>
                </a:solidFill>
                <a:latin typeface="Arial"/>
              </a:rPr>
              <a:t>• Sleep timing and sleepiness are shaped by two major forces.</a:t>
            </a:r>
          </a:p>
          <a:p>
            <a:r>
              <a:rPr sz="1600">
                <a:solidFill>
                  <a:srgbClr val="221A42"/>
                </a:solidFill>
                <a:latin typeface="Arial"/>
              </a:rPr>
              <a:t>• The first is the circadian rhythm, the body’s internal clock. It helps coordinate alertness, body temperature, hormone timing, digestion, and sleep-wake patterns. Light is one of the strongest signals for this clock. Bright light in the morning can support alertness and reinforce the day-night rhythm. Bright light late at night can delay the body’s sleep signal.</a:t>
            </a:r>
          </a:p>
          <a:p>
            <a:r>
              <a:rPr sz="1600">
                <a:solidFill>
                  <a:srgbClr val="221A42"/>
                </a:solidFill>
                <a:latin typeface="Arial"/>
              </a:rPr>
              <a:t>• The second is homeostatic sleep pressure. The longer a person stays awake, the more sleep pressure builds. Sleep pressure is one reason people usually become sleepier after a long day. During sleep, that pressure is reduced.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5 — Sleep Has Stages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Sleep cycles through stages across the night:</a:t>
            </a:r>
          </a:p>
          <a:p>
            <a:r>
              <a:rPr sz="1600">
                <a:solidFill>
                  <a:srgbClr val="221A42"/>
                </a:solidFill>
                <a:latin typeface="Arial"/>
              </a:rPr>
              <a:t>• N1:** light transition into sleep.</a:t>
            </a:r>
          </a:p>
          <a:p>
            <a:r>
              <a:rPr sz="1600">
                <a:solidFill>
                  <a:srgbClr val="221A42"/>
                </a:solidFill>
                <a:latin typeface="Arial"/>
              </a:rPr>
              <a:t>• N2:** stable sleep; body activity slows.</a:t>
            </a:r>
          </a:p>
          <a:p>
            <a:r>
              <a:rPr sz="1600">
                <a:solidFill>
                  <a:srgbClr val="221A42"/>
                </a:solidFill>
                <a:latin typeface="Arial"/>
              </a:rPr>
              <a:t>• N3:** deep sleep; physical restoration is emphasized.</a:t>
            </a:r>
          </a:p>
          <a:p>
            <a:r>
              <a:rPr sz="1600">
                <a:solidFill>
                  <a:srgbClr val="221A42"/>
                </a:solidFill>
                <a:latin typeface="Arial"/>
              </a:rPr>
              <a:t>• REM:** active dreaming; learning and emotion processing.</a:t>
            </a:r>
          </a:p>
          <a:p>
            <a:r>
              <a:rPr sz="1600">
                <a:solidFill>
                  <a:srgbClr val="221A42"/>
                </a:solidFill>
                <a:latin typeface="Arial"/>
              </a:rPr>
              <a:t>• Design Direction:</a:t>
            </a:r>
          </a:p>
          <a:p>
            <a:r>
              <a:rPr sz="1600">
                <a:solidFill>
                  <a:srgbClr val="221A42"/>
                </a:solidFill>
                <a:latin typeface="Arial"/>
              </a:rPr>
              <a:t>• Use a simple wave graphic showing sleep cycling from N1 to N2 to N3 to REM several times.</a:t>
            </a:r>
          </a:p>
          <a:p>
            <a:r>
              <a:rPr sz="1600">
                <a:solidFill>
                  <a:srgbClr val="221A42"/>
                </a:solidFill>
                <a:latin typeface="Arial"/>
              </a:rPr>
              <a:t>• Speaker Notes:</a:t>
            </a:r>
          </a:p>
          <a:p>
            <a:r>
              <a:rPr sz="1600">
                <a:solidFill>
                  <a:srgbClr val="221A42"/>
                </a:solidFill>
                <a:latin typeface="Arial"/>
              </a:rPr>
              <a:t>• Sleep is not one uniform state. It cycles through stages, usually several times per night.</a:t>
            </a:r>
          </a:p>
          <a:p>
            <a:r>
              <a:rPr sz="1600">
                <a:solidFill>
                  <a:srgbClr val="221A42"/>
                </a:solidFill>
                <a:latin typeface="Arial"/>
              </a:rPr>
              <a:t>• N1 is the lightest stage, when a person is drifting from wakefulness into sleep. N2 is a more stable sleep stage, with slower heart rate, breathing, and body activity. N3 is often called deep sleep. It is especially important for physical restoration, growth-related processes, and reducing sleep pressure.</a:t>
            </a:r>
          </a:p>
          <a:p>
            <a:r>
              <a:rPr sz="1600">
                <a:solidFill>
                  <a:srgbClr val="221A42"/>
                </a:solidFill>
                <a:latin typeface="Arial"/>
              </a:rPr>
              <a:t>• REM sleep stands for rapid eye movement sleep. During REM, the brain is active, dreaming is common, and the body’s muscles are mostly relaxed. REM sleep is linked to learning, memory, and emotional processing.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6 — Sleep and Memory</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Sleep supports learning by helping the brain:</a:t>
            </a:r>
          </a:p>
          <a:p>
            <a:r>
              <a:rPr sz="1600">
                <a:solidFill>
                  <a:srgbClr val="221A42"/>
                </a:solidFill>
                <a:latin typeface="Arial"/>
              </a:rPr>
              <a:t>• Strengthen important memories.</a:t>
            </a:r>
          </a:p>
          <a:p>
            <a:r>
              <a:rPr sz="1600">
                <a:solidFill>
                  <a:srgbClr val="221A42"/>
                </a:solidFill>
                <a:latin typeface="Arial"/>
              </a:rPr>
              <a:t>• Connect new information with older knowledge.</a:t>
            </a:r>
          </a:p>
          <a:p>
            <a:r>
              <a:rPr sz="1600">
                <a:solidFill>
                  <a:srgbClr val="221A42"/>
                </a:solidFill>
                <a:latin typeface="Arial"/>
              </a:rPr>
              <a:t>• Reduce interference from less useful information.</a:t>
            </a:r>
          </a:p>
          <a:p>
            <a:r>
              <a:rPr sz="1600">
                <a:solidFill>
                  <a:srgbClr val="221A42"/>
                </a:solidFill>
                <a:latin typeface="Arial"/>
              </a:rPr>
              <a:t>• Prepare for attention and learning the next day.</a:t>
            </a:r>
          </a:p>
          <a:p>
            <a:r>
              <a:rPr sz="1600">
                <a:solidFill>
                  <a:srgbClr val="221A42"/>
                </a:solidFill>
                <a:latin typeface="Arial"/>
              </a:rPr>
              <a:t>• Design Direction:</a:t>
            </a:r>
          </a:p>
          <a:p>
            <a:r>
              <a:rPr sz="1600">
                <a:solidFill>
                  <a:srgbClr val="221A42"/>
                </a:solidFill>
                <a:latin typeface="Arial"/>
              </a:rPr>
              <a:t>• Show a simple brain icon with “file folders” labeled learn, sort, store, recall.</a:t>
            </a:r>
          </a:p>
          <a:p>
            <a:r>
              <a:rPr sz="1600">
                <a:solidFill>
                  <a:srgbClr val="221A42"/>
                </a:solidFill>
                <a:latin typeface="Arial"/>
              </a:rPr>
              <a:t>• Speaker Notes:</a:t>
            </a:r>
          </a:p>
          <a:p>
            <a:r>
              <a:rPr sz="1600">
                <a:solidFill>
                  <a:srgbClr val="221A42"/>
                </a:solidFill>
                <a:latin typeface="Arial"/>
              </a:rPr>
              <a:t>• Sleep plays a major role in memory consolidation. That means the brain uses sleep time to stabilize and strengthen learning.</a:t>
            </a:r>
          </a:p>
          <a:p>
            <a:r>
              <a:rPr sz="1600">
                <a:solidFill>
                  <a:srgbClr val="221A42"/>
                </a:solidFill>
                <a:latin typeface="Arial"/>
              </a:rPr>
              <a:t>• This does not mean sleep magically replaces studying or practice. Instead, sleep helps the brain make better use of what was learned while awake. It helps organize information, connect ideas, and support recall.</a:t>
            </a:r>
          </a:p>
          <a:p>
            <a:r>
              <a:rPr sz="1600">
                <a:solidFill>
                  <a:srgbClr val="221A42"/>
                </a:solidFill>
                <a:latin typeface="Arial"/>
              </a:rPr>
              <a:t>• Sleep also prepares the brain for future learning. When someone is sleep-deprived, attention, working memory, reaction time, and decision-making can suffer. That makes it harder to absorb new information the next day.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7 — Sleep and Emotional Regulation</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Sleep helps the brain manage emotions by supporting:</a:t>
            </a:r>
          </a:p>
          <a:p>
            <a:r>
              <a:rPr sz="1600">
                <a:solidFill>
                  <a:srgbClr val="221A42"/>
                </a:solidFill>
                <a:latin typeface="Arial"/>
              </a:rPr>
              <a:t>• Stress recovery.</a:t>
            </a:r>
          </a:p>
          <a:p>
            <a:r>
              <a:rPr sz="1600">
                <a:solidFill>
                  <a:srgbClr val="221A42"/>
                </a:solidFill>
                <a:latin typeface="Arial"/>
              </a:rPr>
              <a:t>• Mood stability.</a:t>
            </a:r>
          </a:p>
          <a:p>
            <a:r>
              <a:rPr sz="1600">
                <a:solidFill>
                  <a:srgbClr val="221A42"/>
                </a:solidFill>
                <a:latin typeface="Arial"/>
              </a:rPr>
              <a:t>• Flexible thinking.</a:t>
            </a:r>
          </a:p>
          <a:p>
            <a:r>
              <a:rPr sz="1600">
                <a:solidFill>
                  <a:srgbClr val="221A42"/>
                </a:solidFill>
                <a:latin typeface="Arial"/>
              </a:rPr>
              <a:t>• Impulse control.</a:t>
            </a:r>
          </a:p>
          <a:p>
            <a:r>
              <a:rPr sz="1600">
                <a:solidFill>
                  <a:srgbClr val="221A42"/>
                </a:solidFill>
                <a:latin typeface="Arial"/>
              </a:rPr>
              <a:t>• Resilience after difficult experiences.</a:t>
            </a:r>
          </a:p>
          <a:p>
            <a:r>
              <a:rPr sz="1600">
                <a:solidFill>
                  <a:srgbClr val="221A42"/>
                </a:solidFill>
                <a:latin typeface="Arial"/>
              </a:rPr>
              <a:t>• Design Direction:</a:t>
            </a:r>
          </a:p>
          <a:p>
            <a:r>
              <a:rPr sz="1600">
                <a:solidFill>
                  <a:srgbClr val="221A42"/>
                </a:solidFill>
                <a:latin typeface="Arial"/>
              </a:rPr>
              <a:t>• Use a calm face icon beside a balanced scale labeled “emotion” and “reason.”</a:t>
            </a:r>
          </a:p>
          <a:p>
            <a:r>
              <a:rPr sz="1600">
                <a:solidFill>
                  <a:srgbClr val="221A42"/>
                </a:solidFill>
                <a:latin typeface="Arial"/>
              </a:rPr>
              <a:t>• Speaker Notes:</a:t>
            </a:r>
          </a:p>
          <a:p>
            <a:r>
              <a:rPr sz="1600">
                <a:solidFill>
                  <a:srgbClr val="221A42"/>
                </a:solidFill>
                <a:latin typeface="Arial"/>
              </a:rPr>
              <a:t>• Many people notice that after a poor night of sleep, emotions feel stronger and patience feels shorter. This is not just a personality issue. Sleep affects brain systems involved in emotional regulation, attention, and self-control.</a:t>
            </a:r>
          </a:p>
          <a:p>
            <a:r>
              <a:rPr sz="1600">
                <a:solidFill>
                  <a:srgbClr val="221A42"/>
                </a:solidFill>
                <a:latin typeface="Arial"/>
              </a:rPr>
              <a:t>• Adequate sleep helps people respond more flexibly instead of reacting automatically. It supports the ability to pause, think, interpret situations more accurately, and recover from stress.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8 — Sleep and Whole-Body Health</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Sleep supports several body systems:</a:t>
            </a:r>
          </a:p>
          <a:p>
            <a:r>
              <a:rPr sz="1600">
                <a:solidFill>
                  <a:srgbClr val="221A42"/>
                </a:solidFill>
                <a:latin typeface="Arial"/>
              </a:rPr>
              <a:t>• Immune:** defense and inflammation control.</a:t>
            </a:r>
          </a:p>
          <a:p>
            <a:r>
              <a:rPr sz="1600">
                <a:solidFill>
                  <a:srgbClr val="221A42"/>
                </a:solidFill>
                <a:latin typeface="Arial"/>
              </a:rPr>
              <a:t>• Metabolic:** appetite, glucose, and energy regulation.</a:t>
            </a:r>
          </a:p>
          <a:p>
            <a:r>
              <a:rPr sz="1600">
                <a:solidFill>
                  <a:srgbClr val="221A42"/>
                </a:solidFill>
                <a:latin typeface="Arial"/>
              </a:rPr>
              <a:t>• Cardiovascular:** blood pressure and heart health.</a:t>
            </a:r>
          </a:p>
          <a:p>
            <a:r>
              <a:rPr sz="1600">
                <a:solidFill>
                  <a:srgbClr val="221A42"/>
                </a:solidFill>
                <a:latin typeface="Arial"/>
              </a:rPr>
              <a:t>• Recovery:** tissue repair and physical restoration.</a:t>
            </a:r>
          </a:p>
          <a:p>
            <a:r>
              <a:rPr sz="1600">
                <a:solidFill>
                  <a:srgbClr val="221A42"/>
                </a:solidFill>
                <a:latin typeface="Arial"/>
              </a:rPr>
              <a:t>• Design Direction:</a:t>
            </a:r>
          </a:p>
          <a:p>
            <a:r>
              <a:rPr sz="1600">
                <a:solidFill>
                  <a:srgbClr val="221A42"/>
                </a:solidFill>
                <a:latin typeface="Arial"/>
              </a:rPr>
              <a:t>• Use four icons: shield, fuel gauge, heart, and repair tool.</a:t>
            </a:r>
          </a:p>
          <a:p>
            <a:r>
              <a:rPr sz="1600">
                <a:solidFill>
                  <a:srgbClr val="221A42"/>
                </a:solidFill>
                <a:latin typeface="Arial"/>
              </a:rPr>
              <a:t>• Speaker Notes:</a:t>
            </a:r>
          </a:p>
          <a:p>
            <a:r>
              <a:rPr sz="1600">
                <a:solidFill>
                  <a:srgbClr val="221A42"/>
                </a:solidFill>
                <a:latin typeface="Arial"/>
              </a:rPr>
              <a:t>• Sleep affects much more than energy level. It is connected with immune regulation, metabolic health, cardiovascular health, and physical recovery.</a:t>
            </a:r>
          </a:p>
          <a:p>
            <a:r>
              <a:rPr sz="1600">
                <a:solidFill>
                  <a:srgbClr val="221A42"/>
                </a:solidFill>
                <a:latin typeface="Arial"/>
              </a:rPr>
              <a:t>• Short or disrupted sleep can affect hormones involved in hunger and fullness, how the body handles glucose, and how the body regulates blood pressure. Over time, chronic insufficient sleep is associated with higher risk for several health problems.</a:t>
            </a:r>
          </a:p>
          <a:p>
            <a:r>
              <a:rPr sz="1600">
                <a:solidFill>
                  <a:srgbClr val="221A42"/>
                </a:solidFill>
                <a:latin typeface="Arial"/>
              </a:rPr>
              <a:t>• Sleep also supports immune function. This does not mean sleep prevents every illness, but it is part of the body’s overall defense and recovery system.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9 — Rest Is Valuable, But Different</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Rest can help by:</a:t>
            </a:r>
          </a:p>
          <a:p>
            <a:r>
              <a:rPr sz="1600">
                <a:solidFill>
                  <a:srgbClr val="221A42"/>
                </a:solidFill>
                <a:latin typeface="Arial"/>
              </a:rPr>
              <a:t>• Reducing stress and mental load.</a:t>
            </a:r>
          </a:p>
          <a:p>
            <a:r>
              <a:rPr sz="1600">
                <a:solidFill>
                  <a:srgbClr val="221A42"/>
                </a:solidFill>
                <a:latin typeface="Arial"/>
              </a:rPr>
              <a:t>• Lowering stimulation.</a:t>
            </a:r>
          </a:p>
          <a:p>
            <a:r>
              <a:rPr sz="1600">
                <a:solidFill>
                  <a:srgbClr val="221A42"/>
                </a:solidFill>
                <a:latin typeface="Arial"/>
              </a:rPr>
              <a:t>• Supporting recovery between tasks.</a:t>
            </a:r>
          </a:p>
          <a:p>
            <a:r>
              <a:rPr sz="1600">
                <a:solidFill>
                  <a:srgbClr val="221A42"/>
                </a:solidFill>
                <a:latin typeface="Arial"/>
              </a:rPr>
              <a:t>• Improving attention for a short period.</a:t>
            </a:r>
          </a:p>
          <a:p>
            <a:r>
              <a:rPr sz="1600">
                <a:solidFill>
                  <a:srgbClr val="221A42"/>
                </a:solidFill>
                <a:latin typeface="Arial"/>
              </a:rPr>
              <a:t>• Creating conditions that make sleep easier.</a:t>
            </a:r>
          </a:p>
          <a:p>
            <a:r>
              <a:rPr sz="1600">
                <a:solidFill>
                  <a:srgbClr val="221A42"/>
                </a:solidFill>
                <a:latin typeface="Arial"/>
              </a:rPr>
              <a:t>• Design Direction:</a:t>
            </a:r>
          </a:p>
          <a:p>
            <a:r>
              <a:rPr sz="1600">
                <a:solidFill>
                  <a:srgbClr val="221A42"/>
                </a:solidFill>
                <a:latin typeface="Arial"/>
              </a:rPr>
              <a:t>• Show a person sitting quietly with a soft blue “pause” symbol.</a:t>
            </a:r>
          </a:p>
          <a:p>
            <a:r>
              <a:rPr sz="1600">
                <a:solidFill>
                  <a:srgbClr val="221A42"/>
                </a:solidFill>
                <a:latin typeface="Arial"/>
              </a:rPr>
              <a:t>• Speaker Notes:</a:t>
            </a:r>
          </a:p>
          <a:p>
            <a:r>
              <a:rPr sz="1600">
                <a:solidFill>
                  <a:srgbClr val="221A42"/>
                </a:solidFill>
                <a:latin typeface="Arial"/>
              </a:rPr>
              <a:t>• Rest is valuable. Quiet rest, breathing exercises, meditation, prayer, gentle stretching, and low-stimulation breaks can all help the nervous system settle. These practices may reduce stress and improve the transition into sleep.</a:t>
            </a:r>
          </a:p>
          <a:p>
            <a:r>
              <a:rPr sz="1600">
                <a:solidFill>
                  <a:srgbClr val="221A42"/>
                </a:solidFill>
                <a:latin typeface="Arial"/>
              </a:rPr>
              <a:t>• But rest is not identical to sleep. During sleep, the brain and body enter structured stages with distinct patterns of brain activity, hormones, muscle tone, breathing, temperature regulation, and memory processing.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10 — Can Rest Replace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Short answer: No, not fully.</a:t>
            </a:r>
          </a:p>
          <a:p>
            <a:r>
              <a:rPr sz="1600">
                <a:solidFill>
                  <a:srgbClr val="221A42"/>
                </a:solidFill>
                <a:latin typeface="Arial"/>
              </a:rPr>
              <a:t>• Rest can support recovery, but sleep is biologically distinct.</a:t>
            </a:r>
          </a:p>
          <a:p>
            <a:r>
              <a:rPr sz="1600">
                <a:solidFill>
                  <a:srgbClr val="221A42"/>
                </a:solidFill>
                <a:latin typeface="Arial"/>
              </a:rPr>
              <a:t>• | Option | What It Can Help With | What It Cannot Fully Replace |</a:t>
            </a:r>
          </a:p>
          <a:p>
            <a:r>
              <a:rPr sz="1600">
                <a:solidFill>
                  <a:srgbClr val="221A42"/>
                </a:solidFill>
                <a:latin typeface="Arial"/>
              </a:rPr>
              <a:t>• |---|---|---|</a:t>
            </a:r>
          </a:p>
          <a:p>
            <a:r>
              <a:rPr sz="1600">
                <a:solidFill>
                  <a:srgbClr val="221A42"/>
                </a:solidFill>
                <a:latin typeface="Arial"/>
              </a:rPr>
              <a:t>• | **Sleep** | Brain, body, immune, metabolic, emotional recovery | Not applicable |</a:t>
            </a:r>
          </a:p>
          <a:p>
            <a:r>
              <a:rPr sz="1600">
                <a:solidFill>
                  <a:srgbClr val="221A42"/>
                </a:solidFill>
                <a:latin typeface="Arial"/>
              </a:rPr>
              <a:t>• | **Quiet rest** | Stress relief, mental pause, lower stimulation | Sleep stages and full sleep functions |</a:t>
            </a:r>
          </a:p>
          <a:p>
            <a:r>
              <a:rPr sz="1600">
                <a:solidFill>
                  <a:srgbClr val="221A42"/>
                </a:solidFill>
                <a:latin typeface="Arial"/>
              </a:rPr>
              <a:t>• | **Meditation** | Calm, attention, relaxation | Deep sleep and REM sleep processes |</a:t>
            </a:r>
          </a:p>
          <a:p>
            <a:r>
              <a:rPr sz="1600">
                <a:solidFill>
                  <a:srgbClr val="221A42"/>
                </a:solidFill>
                <a:latin typeface="Arial"/>
              </a:rPr>
              <a:t>• | **Naps** | Alertness, learning support, partial sleep recovery | A full night of sleep if too short/late |</a:t>
            </a:r>
          </a:p>
          <a:p>
            <a:r>
              <a:rPr sz="1600">
                <a:solidFill>
                  <a:srgbClr val="221A42"/>
                </a:solidFill>
                <a:latin typeface="Arial"/>
              </a:rPr>
              <a:t>• | **Recovery after sleep deprivation** | Extra sleep over time helps repay sleep loss | One rest break cannot erase sleep debt |</a:t>
            </a:r>
          </a:p>
          <a:p>
            <a:r>
              <a:rPr sz="1600">
                <a:solidFill>
                  <a:srgbClr val="221A42"/>
                </a:solidFill>
                <a:latin typeface="Arial"/>
              </a:rPr>
              <a:t>• Design Direction:</a:t>
            </a:r>
          </a:p>
          <a:p>
            <a:r>
              <a:rPr sz="1600">
                <a:solidFill>
                  <a:srgbClr val="221A42"/>
                </a:solidFill>
                <a:latin typeface="Arial"/>
              </a:rPr>
              <a:t>• Use a clean comparison table with soft blue header row. Highlight “No, not fully.”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11 — Practical Habits That Support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Keep a consistent wake time when possible.</a:t>
            </a:r>
          </a:p>
          <a:p>
            <a:r>
              <a:rPr sz="1600">
                <a:solidFill>
                  <a:srgbClr val="221A42"/>
                </a:solidFill>
                <a:latin typeface="Arial"/>
              </a:rPr>
              <a:t>• Get bright light earlier in the day.</a:t>
            </a:r>
          </a:p>
          <a:p>
            <a:r>
              <a:rPr sz="1600">
                <a:solidFill>
                  <a:srgbClr val="221A42"/>
                </a:solidFill>
                <a:latin typeface="Arial"/>
              </a:rPr>
              <a:t>• Limit caffeine later in the day.</a:t>
            </a:r>
          </a:p>
          <a:p>
            <a:r>
              <a:rPr sz="1600">
                <a:solidFill>
                  <a:srgbClr val="221A42"/>
                </a:solidFill>
                <a:latin typeface="Arial"/>
              </a:rPr>
              <a:t>• Reduce alcohol close to bedtime.</a:t>
            </a:r>
          </a:p>
          <a:p>
            <a:r>
              <a:rPr sz="1600">
                <a:solidFill>
                  <a:srgbClr val="221A42"/>
                </a:solidFill>
                <a:latin typeface="Arial"/>
              </a:rPr>
              <a:t>• Use a calming wind-down routine.</a:t>
            </a:r>
          </a:p>
          <a:p>
            <a:r>
              <a:rPr sz="1600">
                <a:solidFill>
                  <a:srgbClr val="221A42"/>
                </a:solidFill>
                <a:latin typeface="Arial"/>
              </a:rPr>
              <a:t>• Design Direction:</a:t>
            </a:r>
          </a:p>
          <a:p>
            <a:r>
              <a:rPr sz="1600">
                <a:solidFill>
                  <a:srgbClr val="221A42"/>
                </a:solidFill>
                <a:latin typeface="Arial"/>
              </a:rPr>
              <a:t>• Use a checklist layout with small icons: clock, sun, coffee cup, wine glass, moon.</a:t>
            </a:r>
          </a:p>
          <a:p>
            <a:r>
              <a:rPr sz="1600">
                <a:solidFill>
                  <a:srgbClr val="221A42"/>
                </a:solidFill>
                <a:latin typeface="Arial"/>
              </a:rPr>
              <a:t>• Speaker Notes:</a:t>
            </a:r>
          </a:p>
          <a:p>
            <a:r>
              <a:rPr sz="1600">
                <a:solidFill>
                  <a:srgbClr val="221A42"/>
                </a:solidFill>
                <a:latin typeface="Arial"/>
              </a:rPr>
              <a:t>• Sleep habits work best when they support the body’s natural sleep systems.</a:t>
            </a:r>
          </a:p>
          <a:p>
            <a:r>
              <a:rPr sz="1600">
                <a:solidFill>
                  <a:srgbClr val="221A42"/>
                </a:solidFill>
                <a:latin typeface="Arial"/>
              </a:rPr>
              <a:t>• A consistent wake time helps anchor the circadian rhythm. It does not have to be perfect every day, but large swings can make sleep timing harder.</a:t>
            </a:r>
          </a:p>
          <a:p>
            <a:r>
              <a:rPr sz="1600">
                <a:solidFill>
                  <a:srgbClr val="221A42"/>
                </a:solidFill>
                <a:latin typeface="Arial"/>
              </a:rPr>
              <a:t>• Morning or daytime light helps signal “daytime” to the body. In the evening, dimmer light can help the body prepare for sleep.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12 — Sleep Environment, Screens, and Naps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Keep the bedroom cool, dark, quiet, and comfortable.</a:t>
            </a:r>
          </a:p>
          <a:p>
            <a:r>
              <a:rPr sz="1600">
                <a:solidFill>
                  <a:srgbClr val="221A42"/>
                </a:solidFill>
                <a:latin typeface="Arial"/>
              </a:rPr>
              <a:t>• Reduce bright screens and light before bed.</a:t>
            </a:r>
          </a:p>
          <a:p>
            <a:r>
              <a:rPr sz="1600">
                <a:solidFill>
                  <a:srgbClr val="221A42"/>
                </a:solidFill>
                <a:latin typeface="Arial"/>
              </a:rPr>
              <a:t>• Use the bed mainly for sleep when possible.</a:t>
            </a:r>
          </a:p>
          <a:p>
            <a:r>
              <a:rPr sz="1600">
                <a:solidFill>
                  <a:srgbClr val="221A42"/>
                </a:solidFill>
                <a:latin typeface="Arial"/>
              </a:rPr>
              <a:t>• Nap early and briefly if naps affect nighttime sleep.</a:t>
            </a:r>
          </a:p>
          <a:p>
            <a:r>
              <a:rPr sz="1600">
                <a:solidFill>
                  <a:srgbClr val="221A42"/>
                </a:solidFill>
                <a:latin typeface="Arial"/>
              </a:rPr>
              <a:t>• Avoid drowsy driving; sleepiness is a safety risk.</a:t>
            </a:r>
          </a:p>
          <a:p>
            <a:r>
              <a:rPr sz="1600">
                <a:solidFill>
                  <a:srgbClr val="221A42"/>
                </a:solidFill>
                <a:latin typeface="Arial"/>
              </a:rPr>
              <a:t>• Design Direction:</a:t>
            </a:r>
          </a:p>
          <a:p>
            <a:r>
              <a:rPr sz="1600">
                <a:solidFill>
                  <a:srgbClr val="221A42"/>
                </a:solidFill>
                <a:latin typeface="Arial"/>
              </a:rPr>
              <a:t>• Use a bedroom icon with adjustable sliders labeled cool, dark, quiet, comfortable.</a:t>
            </a:r>
          </a:p>
          <a:p>
            <a:r>
              <a:rPr sz="1600">
                <a:solidFill>
                  <a:srgbClr val="221A42"/>
                </a:solidFill>
                <a:latin typeface="Arial"/>
              </a:rPr>
              <a:t>• Speaker Notes:</a:t>
            </a:r>
          </a:p>
          <a:p>
            <a:r>
              <a:rPr sz="1600">
                <a:solidFill>
                  <a:srgbClr val="221A42"/>
                </a:solidFill>
                <a:latin typeface="Arial"/>
              </a:rPr>
              <a:t>• The sleep environment matters. Many people sleep better in a room that is cool, dark, quiet, and physically comfortable. If noise cannot be controlled, earplugs, white noise, or other sound management may help.</a:t>
            </a:r>
          </a:p>
          <a:p>
            <a:r>
              <a:rPr sz="1600">
                <a:solidFill>
                  <a:srgbClr val="221A42"/>
                </a:solidFill>
                <a:latin typeface="Arial"/>
              </a:rPr>
              <a:t>• Bright light and screens can delay sleep for some people, especially when used close to bedtime. It is helpful to reduce brightness, use night settings if needed, and avoid highly stimulating content right before bed.</a:t>
            </a:r>
          </a:p>
          <a:p>
            <a:r>
              <a:rPr sz="1600">
                <a:solidFill>
                  <a:srgbClr val="221A42"/>
                </a:solidFill>
                <a:latin typeface="Arial"/>
              </a:rPr>
              <a:t>• Using the bed mainly for sleep can help the brain associate bed with sleeping rather than working, scrolling, or worrying. This is not always possible for every living situation, but it is a helpful principle.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13 — When to Seek Medical Help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Consider professional help if you experience:</a:t>
            </a:r>
          </a:p>
          <a:p>
            <a:r>
              <a:rPr sz="1600">
                <a:solidFill>
                  <a:srgbClr val="221A42"/>
                </a:solidFill>
                <a:latin typeface="Arial"/>
              </a:rPr>
              <a:t>• Insomnia or poor sleep lasting several weeks.</a:t>
            </a:r>
          </a:p>
          <a:p>
            <a:r>
              <a:rPr sz="1600">
                <a:solidFill>
                  <a:srgbClr val="221A42"/>
                </a:solidFill>
                <a:latin typeface="Arial"/>
              </a:rPr>
              <a:t>• Loud snoring, gasping, or witnessed pauses in breathing.</a:t>
            </a:r>
          </a:p>
          <a:p>
            <a:r>
              <a:rPr sz="1600">
                <a:solidFill>
                  <a:srgbClr val="221A42"/>
                </a:solidFill>
                <a:latin typeface="Arial"/>
              </a:rPr>
              <a:t>• Severe daytime sleepiness or drowsy driving risk.</a:t>
            </a:r>
          </a:p>
          <a:p>
            <a:r>
              <a:rPr sz="1600">
                <a:solidFill>
                  <a:srgbClr val="221A42"/>
                </a:solidFill>
                <a:latin typeface="Arial"/>
              </a:rPr>
              <a:t>• Restless, uncomfortable legs that disrupt sleep.</a:t>
            </a:r>
          </a:p>
          <a:p>
            <a:r>
              <a:rPr sz="1600">
                <a:solidFill>
                  <a:srgbClr val="221A42"/>
                </a:solidFill>
                <a:latin typeface="Arial"/>
              </a:rPr>
              <a:t>• Shift-work sleep problems or safety concerns.</a:t>
            </a:r>
          </a:p>
          <a:p>
            <a:r>
              <a:rPr sz="1600">
                <a:solidFill>
                  <a:srgbClr val="221A42"/>
                </a:solidFill>
                <a:latin typeface="Arial"/>
              </a:rPr>
              <a:t>• Design Direction:</a:t>
            </a:r>
          </a:p>
          <a:p>
            <a:r>
              <a:rPr sz="1600">
                <a:solidFill>
                  <a:srgbClr val="221A42"/>
                </a:solidFill>
                <a:latin typeface="Arial"/>
              </a:rPr>
              <a:t>• Use a “red flag” icon with a calm, non-alarming medical referral style.</a:t>
            </a:r>
          </a:p>
          <a:p>
            <a:r>
              <a:rPr sz="1600">
                <a:solidFill>
                  <a:srgbClr val="221A42"/>
                </a:solidFill>
                <a:latin typeface="Arial"/>
              </a:rPr>
              <a:t>• Speaker Notes:</a:t>
            </a:r>
          </a:p>
          <a:p>
            <a:r>
              <a:rPr sz="1600">
                <a:solidFill>
                  <a:srgbClr val="221A42"/>
                </a:solidFill>
                <a:latin typeface="Arial"/>
              </a:rPr>
              <a:t>• Many people have occasional poor sleep. But certain patterns deserve medical attention.</a:t>
            </a:r>
          </a:p>
          <a:p>
            <a:r>
              <a:rPr sz="1600">
                <a:solidFill>
                  <a:srgbClr val="221A42"/>
                </a:solidFill>
                <a:latin typeface="Arial"/>
              </a:rPr>
              <a:t>• If insomnia lasts several weeks, affects daily functioning, or keeps returning, a healthcare professional can help identify causes and treatment options.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14 — Short Recap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Remember the core ideas:</a:t>
            </a:r>
          </a:p>
          <a:p>
            <a:r>
              <a:rPr sz="1600">
                <a:solidFill>
                  <a:srgbClr val="221A42"/>
                </a:solidFill>
                <a:latin typeface="Arial"/>
              </a:rPr>
              <a:t>• Sleep is active biological maintenance.</a:t>
            </a:r>
          </a:p>
          <a:p>
            <a:r>
              <a:rPr sz="1600">
                <a:solidFill>
                  <a:srgbClr val="221A42"/>
                </a:solidFill>
                <a:latin typeface="Arial"/>
              </a:rPr>
              <a:t>• Sleep stages support different brain and body functions.</a:t>
            </a:r>
          </a:p>
          <a:p>
            <a:r>
              <a:rPr sz="1600">
                <a:solidFill>
                  <a:srgbClr val="221A42"/>
                </a:solidFill>
                <a:latin typeface="Arial"/>
              </a:rPr>
              <a:t>• Circadian rhythm and sleep pressure guide sleep timing.</a:t>
            </a:r>
          </a:p>
          <a:p>
            <a:r>
              <a:rPr sz="1600">
                <a:solidFill>
                  <a:srgbClr val="221A42"/>
                </a:solidFill>
                <a:latin typeface="Arial"/>
              </a:rPr>
              <a:t>• Rest helps, but it does not fully replace sleep.</a:t>
            </a:r>
          </a:p>
          <a:p>
            <a:r>
              <a:rPr sz="1600">
                <a:solidFill>
                  <a:srgbClr val="221A42"/>
                </a:solidFill>
                <a:latin typeface="Arial"/>
              </a:rPr>
              <a:t>• Better habits can support better sleep over time.</a:t>
            </a:r>
          </a:p>
          <a:p>
            <a:r>
              <a:rPr sz="1600">
                <a:solidFill>
                  <a:srgbClr val="221A42"/>
                </a:solidFill>
                <a:latin typeface="Arial"/>
              </a:rPr>
              <a:t>• Design Direction:</a:t>
            </a:r>
          </a:p>
          <a:p>
            <a:r>
              <a:rPr sz="1600">
                <a:solidFill>
                  <a:srgbClr val="221A42"/>
                </a:solidFill>
                <a:latin typeface="Arial"/>
              </a:rPr>
              <a:t>• Use five simple icons in a row: brain, cycle, clock, pause, checklist.</a:t>
            </a:r>
          </a:p>
          <a:p>
            <a:r>
              <a:rPr sz="1600">
                <a:solidFill>
                  <a:srgbClr val="221A42"/>
                </a:solidFill>
                <a:latin typeface="Arial"/>
              </a:rPr>
              <a:t>• Speaker Notes:</a:t>
            </a:r>
          </a:p>
          <a:p>
            <a:r>
              <a:rPr sz="1600">
                <a:solidFill>
                  <a:srgbClr val="221A42"/>
                </a:solidFill>
                <a:latin typeface="Arial"/>
              </a:rPr>
              <a:t>• Let’s recap.</a:t>
            </a:r>
          </a:p>
          <a:p>
            <a:r>
              <a:rPr sz="1600">
                <a:solidFill>
                  <a:srgbClr val="221A42"/>
                </a:solidFill>
                <a:latin typeface="Arial"/>
              </a:rPr>
              <a:t>• Sleep is not “doing nothing.” It is an active process that supports learning, emotional regulation, immune function, metabolism, cardiovascular health, and recovery.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15 — Knowledge Check</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Answer these three questions:</a:t>
            </a:r>
          </a:p>
          <a:p>
            <a:r>
              <a:rPr sz="1600">
                <a:solidFill>
                  <a:srgbClr val="221A42"/>
                </a:solidFill>
                <a:latin typeface="Arial"/>
              </a:rPr>
              <a:t>• 1. What are the two main systems that help regulate sleep?</a:t>
            </a:r>
          </a:p>
          <a:p>
            <a:r>
              <a:rPr sz="1600">
                <a:solidFill>
                  <a:srgbClr val="221A42"/>
                </a:solidFill>
                <a:latin typeface="Arial"/>
              </a:rPr>
              <a:t>• 2. Name one important function of REM sleep.</a:t>
            </a:r>
          </a:p>
          <a:p>
            <a:r>
              <a:rPr sz="1600">
                <a:solidFill>
                  <a:srgbClr val="221A42"/>
                </a:solidFill>
                <a:latin typeface="Arial"/>
              </a:rPr>
              <a:t>• 3. Can quiet rest fully replace sleep? Why or why not?</a:t>
            </a:r>
          </a:p>
          <a:p>
            <a:r>
              <a:rPr sz="1600">
                <a:solidFill>
                  <a:srgbClr val="221A42"/>
                </a:solidFill>
                <a:latin typeface="Arial"/>
              </a:rPr>
              <a:t>• Design Direction:</a:t>
            </a:r>
          </a:p>
          <a:p>
            <a:r>
              <a:rPr sz="1600">
                <a:solidFill>
                  <a:srgbClr val="221A42"/>
                </a:solidFill>
                <a:latin typeface="Arial"/>
              </a:rPr>
              <a:t>• Use a simple quiz card layout with three numbered cards.</a:t>
            </a:r>
          </a:p>
          <a:p>
            <a:r>
              <a:rPr sz="1600">
                <a:solidFill>
                  <a:srgbClr val="221A42"/>
                </a:solidFill>
                <a:latin typeface="Arial"/>
              </a:rPr>
              <a:t>• Speaker Notes:</a:t>
            </a:r>
          </a:p>
          <a:p>
            <a:r>
              <a:rPr sz="1600">
                <a:solidFill>
                  <a:srgbClr val="221A42"/>
                </a:solidFill>
                <a:latin typeface="Arial"/>
              </a:rPr>
              <a:t>• Use these questions to check understanding.</a:t>
            </a:r>
          </a:p>
          <a:p>
            <a:r>
              <a:rPr sz="1600">
                <a:solidFill>
                  <a:srgbClr val="221A42"/>
                </a:solidFill>
                <a:latin typeface="Arial"/>
              </a:rPr>
              <a:t>• Question 1: The two main systems are the circadian rhythm and homeostatic sleep pressure.</a:t>
            </a:r>
          </a:p>
          <a:p>
            <a:r>
              <a:rPr sz="1600">
                <a:solidFill>
                  <a:srgbClr val="221A42"/>
                </a:solidFill>
                <a:latin typeface="Arial"/>
              </a:rPr>
              <a:t>• Question 2: REM sleep is linked to dreaming, learning, memory, and emotional processing. Learners only need to name one.</a:t>
            </a:r>
          </a:p>
          <a:p>
            <a:r>
              <a:rPr sz="1600">
                <a:solidFill>
                  <a:srgbClr val="221A42"/>
                </a:solidFill>
                <a:latin typeface="Arial"/>
              </a:rPr>
              <a:t>• Question 3: Quiet rest cannot fully replace sleep because sleep includes structured NREM and REM stages with biological functions that do not occur in the same way during wakeful rest.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16 — Practical Action Plan</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Choose one sleep-supporting action for the next 7 days:</a:t>
            </a:r>
          </a:p>
          <a:p>
            <a:r>
              <a:rPr sz="1600">
                <a:solidFill>
                  <a:srgbClr val="221A42"/>
                </a:solidFill>
                <a:latin typeface="Arial"/>
              </a:rPr>
              <a:t>• Set a consistent wake time.</a:t>
            </a:r>
          </a:p>
          <a:p>
            <a:r>
              <a:rPr sz="1600">
                <a:solidFill>
                  <a:srgbClr val="221A42"/>
                </a:solidFill>
                <a:latin typeface="Arial"/>
              </a:rPr>
              <a:t>• Get morning or daytime light.</a:t>
            </a:r>
          </a:p>
          <a:p>
            <a:r>
              <a:rPr sz="1600">
                <a:solidFill>
                  <a:srgbClr val="221A42"/>
                </a:solidFill>
                <a:latin typeface="Arial"/>
              </a:rPr>
              <a:t>• Move caffeine earlier.</a:t>
            </a:r>
          </a:p>
          <a:p>
            <a:r>
              <a:rPr sz="1600">
                <a:solidFill>
                  <a:srgbClr val="221A42"/>
                </a:solidFill>
                <a:latin typeface="Arial"/>
              </a:rPr>
              <a:t>• Create a 20-minute wind-down routine.</a:t>
            </a:r>
          </a:p>
          <a:p>
            <a:r>
              <a:rPr sz="1600">
                <a:solidFill>
                  <a:srgbClr val="221A42"/>
                </a:solidFill>
                <a:latin typeface="Arial"/>
              </a:rPr>
              <a:t>• Make the bedroom darker, cooler, or quieter.</a:t>
            </a:r>
          </a:p>
          <a:p>
            <a:r>
              <a:rPr sz="1600">
                <a:solidFill>
                  <a:srgbClr val="221A42"/>
                </a:solidFill>
                <a:latin typeface="Arial"/>
              </a:rPr>
              <a:t>• Action Plan Prompt</a:t>
            </a:r>
          </a:p>
          <a:p>
            <a:r>
              <a:rPr sz="1600">
                <a:solidFill>
                  <a:srgbClr val="221A42"/>
                </a:solidFill>
                <a:latin typeface="Arial"/>
              </a:rPr>
              <a:t>• “This week, I will improve my sleep by: ________.”</a:t>
            </a:r>
          </a:p>
          <a:p>
            <a:r>
              <a:rPr sz="1600">
                <a:solidFill>
                  <a:srgbClr val="221A42"/>
                </a:solidFill>
                <a:latin typeface="Arial"/>
              </a:rPr>
              <a:t>• Design Direction:</a:t>
            </a:r>
          </a:p>
          <a:p>
            <a:r>
              <a:rPr sz="1600">
                <a:solidFill>
                  <a:srgbClr val="221A42"/>
                </a:solidFill>
                <a:latin typeface="Arial"/>
              </a:rPr>
              <a:t>• Use a calm worksheet-style slide with one blank line and a small QRU checkmark icon.</a:t>
            </a:r>
          </a:p>
          <a:p>
            <a:r>
              <a:rPr sz="1600">
                <a:solidFill>
                  <a:srgbClr val="221A42"/>
                </a:solidFill>
                <a:latin typeface="Arial"/>
              </a:rPr>
              <a:t>• Speaker Notes: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17 — QRU Closing</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 QRU Learning Promise</a:t>
            </a:r>
          </a:p>
          <a:p>
            <a:r>
              <a:rPr sz="1600">
                <a:solidFill>
                  <a:srgbClr val="221A42"/>
                </a:solidFill>
                <a:latin typeface="Arial"/>
              </a:rPr>
              <a:t>• Clear science. Practical choices. Better daily decisions.</a:t>
            </a:r>
          </a:p>
          <a:p>
            <a:r>
              <a:rPr sz="1600">
                <a:solidFill>
                  <a:srgbClr val="221A42"/>
                </a:solidFill>
                <a:latin typeface="Arial"/>
              </a:rPr>
              <a:t>• Final takeaway:</a:t>
            </a:r>
          </a:p>
          <a:p>
            <a:r>
              <a:rPr sz="1600">
                <a:solidFill>
                  <a:srgbClr val="221A42"/>
                </a:solidFill>
                <a:latin typeface="Arial"/>
              </a:rPr>
              <a:t>• Rest can pause the drain.</a:t>
            </a:r>
          </a:p>
          <a:p>
            <a:r>
              <a:rPr sz="1600">
                <a:solidFill>
                  <a:srgbClr val="221A42"/>
                </a:solidFill>
                <a:latin typeface="Arial"/>
              </a:rPr>
              <a:t>• Sleep does the repair.</a:t>
            </a:r>
          </a:p>
          <a:p>
            <a:r>
              <a:rPr sz="1600">
                <a:solidFill>
                  <a:srgbClr val="221A42"/>
                </a:solidFill>
                <a:latin typeface="Arial"/>
              </a:rPr>
              <a:t>• Design Direction:</a:t>
            </a:r>
          </a:p>
          <a:p>
            <a:r>
              <a:rPr sz="1600">
                <a:solidFill>
                  <a:srgbClr val="221A42"/>
                </a:solidFill>
                <a:latin typeface="Arial"/>
              </a:rPr>
              <a:t>• Deep navy background, warm white text, soft blue accent line, QRU mark centered at bottom.</a:t>
            </a:r>
          </a:p>
          <a:p>
            <a:r>
              <a:rPr sz="1600">
                <a:solidFill>
                  <a:srgbClr val="221A42"/>
                </a:solidFill>
                <a:latin typeface="Arial"/>
              </a:rPr>
              <a:t>• Speaker Notes:</a:t>
            </a:r>
          </a:p>
          <a:p>
            <a:r>
              <a:rPr sz="1600">
                <a:solidFill>
                  <a:srgbClr val="221A42"/>
                </a:solidFill>
                <a:latin typeface="Arial"/>
              </a:rPr>
              <a:t>• Sleep is one of the foundations of health, learning, safety, and emotional resilience. Rest is useful and important, but it is not the same as sleep.</a:t>
            </a:r>
          </a:p>
          <a:p>
            <a:r>
              <a:rPr sz="1600">
                <a:solidFill>
                  <a:srgbClr val="221A42"/>
                </a:solidFill>
                <a:latin typeface="Arial"/>
              </a:rPr>
              <a:t>• A strong sleep routine does not require perfection. It requires respect for the body’s biology and small choices repeated consistently.</a:t>
            </a:r>
          </a:p>
          <a:p>
            <a:r>
              <a:rPr sz="1600">
                <a:solidFill>
                  <a:srgbClr val="221A42"/>
                </a:solidFill>
                <a:latin typeface="Arial"/>
              </a:rPr>
              <a:t>• Close by encouraging learners to choose one practical action from the previous slide and to seek professional help if they experience persistent insomnia, breathing concerns during sleep, severe daytime sleepiness, restless legs symptoms, shift-work concerns, or any safety risk such as drowsy driving.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18 — References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On-Slide Content</a:t>
            </a:r>
          </a:p>
          <a:p>
            <a:r>
              <a:rPr sz="1600">
                <a:solidFill>
                  <a:srgbClr val="221A42"/>
                </a:solidFill>
                <a:latin typeface="Arial"/>
              </a:rPr>
              <a:t>• Selected educational sources:</a:t>
            </a:r>
          </a:p>
          <a:p>
            <a:r>
              <a:rPr sz="1600">
                <a:solidFill>
                  <a:srgbClr val="221A42"/>
                </a:solidFill>
                <a:latin typeface="Arial"/>
              </a:rPr>
              <a:t>• CDC — Sleep and Sleep Disorders</a:t>
            </a:r>
          </a:p>
          <a:p>
            <a:r>
              <a:rPr sz="1600">
                <a:solidFill>
                  <a:srgbClr val="221A42"/>
                </a:solidFill>
                <a:latin typeface="Arial"/>
              </a:rPr>
              <a:t>• CDC — How Much Sleep Do I Need?</a:t>
            </a:r>
          </a:p>
          <a:p>
            <a:r>
              <a:rPr sz="1600">
                <a:solidFill>
                  <a:srgbClr val="221A42"/>
                </a:solidFill>
                <a:latin typeface="Arial"/>
              </a:rPr>
              <a:t>• NIH/NHLBI — Sleep Deprivation and Deficiency</a:t>
            </a:r>
          </a:p>
          <a:p>
            <a:r>
              <a:rPr sz="1600">
                <a:solidFill>
                  <a:srgbClr val="221A42"/>
                </a:solidFill>
                <a:latin typeface="Arial"/>
              </a:rPr>
              <a:t>• NIH/NHLBI — Sleep Studies and Sleep Health</a:t>
            </a:r>
          </a:p>
          <a:p>
            <a:r>
              <a:rPr sz="1600">
                <a:solidFill>
                  <a:srgbClr val="221A42"/>
                </a:solidFill>
                <a:latin typeface="Arial"/>
              </a:rPr>
              <a:t>• AASM — Sleep Education and Sleep Duration Guidance</a:t>
            </a:r>
          </a:p>
          <a:p>
            <a:r>
              <a:rPr sz="1600">
                <a:solidFill>
                  <a:srgbClr val="221A42"/>
                </a:solidFill>
                <a:latin typeface="Arial"/>
              </a:rPr>
              <a:t>• Sleep Foundation — Sleep Hygiene and Napping Education</a:t>
            </a:r>
          </a:p>
          <a:p>
            <a:r>
              <a:rPr sz="1600">
                <a:solidFill>
                  <a:srgbClr val="221A42"/>
                </a:solidFill>
                <a:latin typeface="Arial"/>
              </a:rPr>
              <a:t>• Design Direction:</a:t>
            </a:r>
          </a:p>
          <a:p>
            <a:r>
              <a:rPr sz="1600">
                <a:solidFill>
                  <a:srgbClr val="221A42"/>
                </a:solidFill>
                <a:latin typeface="Arial"/>
              </a:rPr>
              <a:t>• Use a simple reference list with small source icons. Keep the slide clean and readable.</a:t>
            </a:r>
          </a:p>
          <a:p>
            <a:r>
              <a:rPr sz="1600">
                <a:solidFill>
                  <a:srgbClr val="221A42"/>
                </a:solidFill>
                <a:latin typeface="Arial"/>
              </a:rPr>
              <a:t>• Speaker Notes:</a:t>
            </a:r>
          </a:p>
          <a:p>
            <a:r>
              <a:rPr sz="1600">
                <a:solidFill>
                  <a:srgbClr val="221A42"/>
                </a:solidFill>
                <a:latin typeface="Arial"/>
              </a:rPr>
              <a:t>• This presentation uses reputable public health and sleep education sources, including the CDC, NIH/NHLBI, AASM, and Sleep Foundation. These sources support the major concepts in this presentation: sleep duration guidance, sleep stages, sleep deprivation effects, sleep hygiene, naps, drowsy driving risk, and reasons to seek medical help.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