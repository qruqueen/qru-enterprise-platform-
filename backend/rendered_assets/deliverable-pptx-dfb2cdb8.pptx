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5106A"/>
        </a:solidFill>
        <a:effectLst/>
      </p:bgPr>
    </p:bg>
    <p:spTree>
      <p:nvGrpSpPr>
        <p:cNvPr id="1" name=""/>
        <p:cNvGrpSpPr/>
        <p:nvPr/>
      </p:nvGrpSpPr>
      <p:grpSpPr/>
      <p:sp>
        <p:nvSpPr>
          <p:cNvPr id="2" name="TextBox 1"/>
          <p:cNvSpPr txBox="1"/>
          <p:nvPr/>
        </p:nvSpPr>
        <p:spPr>
          <a:xfrm>
            <a:off x="731520" y="2011680"/>
            <a:ext cx="10698480" cy="1097280"/>
          </a:xfrm>
          <a:prstGeom prst="rect">
            <a:avLst/>
          </a:prstGeom>
          <a:noFill/>
        </p:spPr>
        <p:txBody>
          <a:bodyPr wrap="square">
            <a:spAutoFit/>
          </a:bodyPr>
          <a:lstStyle/>
          <a:p>
            <a:r>
              <a:rPr sz="1600" b="1">
                <a:solidFill>
                  <a:srgbClr val="F5B21A"/>
                </a:solidFill>
                <a:latin typeface="Arial"/>
              </a:rPr>
              <a:t>QRU PRESS™ · General</a:t>
            </a:r>
          </a:p>
        </p:txBody>
      </p:sp>
      <p:sp>
        <p:nvSpPr>
          <p:cNvPr id="3" name="TextBox 2"/>
          <p:cNvSpPr txBox="1"/>
          <p:nvPr/>
        </p:nvSpPr>
        <p:spPr>
          <a:xfrm>
            <a:off x="731520" y="2651760"/>
            <a:ext cx="10698480" cy="1097280"/>
          </a:xfrm>
          <a:prstGeom prst="rect">
            <a:avLst/>
          </a:prstGeom>
          <a:noFill/>
        </p:spPr>
        <p:txBody>
          <a:bodyPr wrap="square">
            <a:spAutoFit/>
          </a:bodyPr>
          <a:lstStyle/>
          <a:p>
            <a:r>
              <a:rPr sz="4000" b="1">
                <a:solidFill>
                  <a:srgbClr val="FFFFFF"/>
                </a:solidFill>
                <a:latin typeface="Arial"/>
              </a:rPr>
              <a:t>Day Trading A - Z Academy — Presentation</a:t>
            </a:r>
          </a:p>
        </p:txBody>
      </p:sp>
      <p:sp>
        <p:nvSpPr>
          <p:cNvPr id="4" name="TextBox 3"/>
          <p:cNvSpPr txBox="1"/>
          <p:nvPr/>
        </p:nvSpPr>
        <p:spPr>
          <a:xfrm>
            <a:off x="731520" y="4754880"/>
            <a:ext cx="10698480" cy="1097280"/>
          </a:xfrm>
          <a:prstGeom prst="rect">
            <a:avLst/>
          </a:prstGeom>
          <a:noFill/>
        </p:spPr>
        <p:txBody>
          <a:bodyPr wrap="square">
            <a:spAutoFit/>
          </a:bodyPr>
          <a:lstStyle/>
          <a:p>
            <a:r>
              <a:rPr sz="1600" b="1">
                <a:solidFill>
                  <a:srgbClr val="F5B21A"/>
                </a:solidFill>
                <a:latin typeface="Arial"/>
              </a:rPr>
              <a:t>Treasure Standard™ Certified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F5B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Presentation Outline</a:t>
            </a:r>
          </a:p>
        </p:txBody>
      </p:sp>
      <p:sp>
        <p:nvSpPr>
          <p:cNvPr id="4" name="TextBox 3"/>
          <p:cNvSpPr txBox="1"/>
          <p:nvPr/>
        </p:nvSpPr>
        <p:spPr>
          <a:xfrm>
            <a:off x="822960" y="1737360"/>
            <a:ext cx="10515600" cy="4572000"/>
          </a:xfrm>
          <a:prstGeom prst="rect">
            <a:avLst/>
          </a:prstGeom>
          <a:noFill/>
        </p:spPr>
        <p:txBody>
          <a:bodyPr wrap="square">
            <a:spAutoFit/>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F5B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1. Opening Idea</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Many people see trading as numbers moving on a screen.</a:t>
            </a:r>
          </a:p>
          <a:p>
            <a:r>
              <a:rPr sz="1600">
                <a:solidFill>
                  <a:srgbClr val="221A42"/>
                </a:solidFill>
                <a:latin typeface="Arial"/>
              </a:rPr>
              <a:t>• Behind every price movement is a human decision.</a:t>
            </a:r>
          </a:p>
          <a:p>
            <a:r>
              <a:rPr sz="1600">
                <a:solidFill>
                  <a:srgbClr val="221A42"/>
                </a:solidFill>
                <a:latin typeface="Arial"/>
              </a:rPr>
              <a:t>• Day trading is not simple buying and selling; it is a decision system.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F5B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2. What Is Day Trading?</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Buying and selling financial instruments within a short time period, often within the same day.</a:t>
            </a:r>
          </a:p>
          <a:p>
            <a:r>
              <a:rPr sz="1600">
                <a:solidFill>
                  <a:srgbClr val="221A42"/>
                </a:solidFill>
                <a:latin typeface="Arial"/>
              </a:rPr>
              <a:t>• It combines market analysis, timing decisions, risk management, emotional control, and process discipline.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F5B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3. Why Market Understanding Matters</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Financial markets affect businesses, economies, retirement systems, and personal wealth decisions.</a:t>
            </a:r>
          </a:p>
          <a:p>
            <a:r>
              <a:rPr sz="1600">
                <a:solidFill>
                  <a:srgbClr val="221A42"/>
                </a:solidFill>
                <a:latin typeface="Arial"/>
              </a:rPr>
              <a:t>• Understanding markets builds financial literacy.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F5B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4. The QRU Trading Intelligence Model</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Knowledge: Understand the system.</a:t>
            </a:r>
          </a:p>
          <a:p>
            <a:r>
              <a:rPr sz="1600">
                <a:solidFill>
                  <a:srgbClr val="221A42"/>
                </a:solidFill>
                <a:latin typeface="Arial"/>
              </a:rPr>
              <a:t>• Analysis: Interpret information.</a:t>
            </a:r>
          </a:p>
          <a:p>
            <a:r>
              <a:rPr sz="1600">
                <a:solidFill>
                  <a:srgbClr val="221A42"/>
                </a:solidFill>
                <a:latin typeface="Arial"/>
              </a:rPr>
              <a:t>• Decision: Choose an action.</a:t>
            </a:r>
          </a:p>
          <a:p>
            <a:r>
              <a:rPr sz="1600">
                <a:solidFill>
                  <a:srgbClr val="221A42"/>
                </a:solidFill>
                <a:latin typeface="Arial"/>
              </a:rPr>
              <a:t>• Risk: Protect resources.</a:t>
            </a:r>
          </a:p>
          <a:p>
            <a:r>
              <a:rPr sz="1600">
                <a:solidFill>
                  <a:srgbClr val="221A42"/>
                </a:solidFill>
                <a:latin typeface="Arial"/>
              </a:rPr>
              <a:t>• Reflection: Learn and improve.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F5B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5. Core Vocabulary</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Asset</a:t>
            </a:r>
          </a:p>
          <a:p>
            <a:r>
              <a:rPr sz="1600">
                <a:solidFill>
                  <a:srgbClr val="221A42"/>
                </a:solidFill>
                <a:latin typeface="Arial"/>
              </a:rPr>
              <a:t>• Market</a:t>
            </a:r>
          </a:p>
          <a:p>
            <a:r>
              <a:rPr sz="1600">
                <a:solidFill>
                  <a:srgbClr val="221A42"/>
                </a:solidFill>
                <a:latin typeface="Arial"/>
              </a:rPr>
              <a:t>• Volatility</a:t>
            </a:r>
          </a:p>
          <a:p>
            <a:r>
              <a:rPr sz="1600">
                <a:solidFill>
                  <a:srgbClr val="221A42"/>
                </a:solidFill>
                <a:latin typeface="Arial"/>
              </a:rPr>
              <a:t>• Liquidity</a:t>
            </a:r>
          </a:p>
          <a:p>
            <a:r>
              <a:rPr sz="1600">
                <a:solidFill>
                  <a:srgbClr val="221A42"/>
                </a:solidFill>
                <a:latin typeface="Arial"/>
              </a:rPr>
              <a:t>• Strategy</a:t>
            </a:r>
          </a:p>
          <a:p>
            <a:r>
              <a:rPr sz="1600">
                <a:solidFill>
                  <a:srgbClr val="221A42"/>
                </a:solidFill>
                <a:latin typeface="Arial"/>
              </a:rPr>
              <a:t>• Risk Management</a:t>
            </a:r>
          </a:p>
          <a:p>
            <a:r>
              <a:rPr sz="1600">
                <a:solidFill>
                  <a:srgbClr val="221A42"/>
                </a:solidFill>
                <a:latin typeface="Arial"/>
              </a:rPr>
              <a:t>• Probability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F5B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6. Risk and Uncertainty</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No one can predict every market movement.</a:t>
            </a:r>
          </a:p>
          <a:p>
            <a:r>
              <a:rPr sz="1600">
                <a:solidFill>
                  <a:srgbClr val="221A42"/>
                </a:solidFill>
                <a:latin typeface="Arial"/>
              </a:rPr>
              <a:t>• Risk management exists because uncertainty is real.</a:t>
            </a:r>
          </a:p>
          <a:p>
            <a:r>
              <a:rPr sz="1600">
                <a:solidFill>
                  <a:srgbClr val="221A42"/>
                </a:solidFill>
                <a:latin typeface="Arial"/>
              </a:rPr>
              <a:t>• The goal is informed decision-making, not guaranteed success.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F5B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7. Trading Psychology</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Humans make decisions, and emotions influence behavior.</a:t>
            </a:r>
          </a:p>
          <a:p>
            <a:r>
              <a:rPr sz="1600">
                <a:solidFill>
                  <a:srgbClr val="221A42"/>
                </a:solidFill>
                <a:latin typeface="Arial"/>
              </a:rPr>
              <a:t>• Fear of missing out can lead to unplanned decisions.</a:t>
            </a:r>
          </a:p>
          <a:p>
            <a:r>
              <a:rPr sz="1600">
                <a:solidFill>
                  <a:srgbClr val="221A42"/>
                </a:solidFill>
                <a:latin typeface="Arial"/>
              </a:rPr>
              <a:t>• Discipline helps protect the process.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F5B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8. The Pilot Analogy</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A pilot cannot control the weather.</a:t>
            </a:r>
          </a:p>
          <a:p>
            <a:r>
              <a:rPr sz="1600">
                <a:solidFill>
                  <a:srgbClr val="221A42"/>
                </a:solidFill>
                <a:latin typeface="Arial"/>
              </a:rPr>
              <a:t>• A pilot controls preparation, training, instruments, and response.</a:t>
            </a:r>
          </a:p>
          <a:p>
            <a:r>
              <a:rPr sz="1600">
                <a:solidFill>
                  <a:srgbClr val="221A42"/>
                </a:solidFill>
                <a:latin typeface="Arial"/>
              </a:rPr>
              <a:t>• A trader cannot control the market.</a:t>
            </a:r>
          </a:p>
          <a:p>
            <a:r>
              <a:rPr sz="1600">
                <a:solidFill>
                  <a:srgbClr val="221A42"/>
                </a:solidFill>
                <a:latin typeface="Arial"/>
              </a:rPr>
              <a:t>• A trader controls education, process, risk, and decisions.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F5B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9. Reflection and Improvement</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A good decision can still produce an unfavorable outcome.</a:t>
            </a:r>
          </a:p>
          <a:p>
            <a:r>
              <a:rPr sz="1600">
                <a:solidFill>
                  <a:srgbClr val="221A42"/>
                </a:solidFill>
                <a:latin typeface="Arial"/>
              </a:rPr>
              <a:t>• Reflection separates learning from guessing.</a:t>
            </a:r>
          </a:p>
          <a:p>
            <a:r>
              <a:rPr sz="1600">
                <a:solidFill>
                  <a:srgbClr val="221A42"/>
                </a:solidFill>
                <a:latin typeface="Arial"/>
              </a:rPr>
              <a:t>• Improvement comes from reviewing decisions, not chasing outcomes.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F5B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10. Closing Memory Lesson</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Financial intelligence is not knowing what happens next.</a:t>
            </a:r>
          </a:p>
          <a:p>
            <a:r>
              <a:rPr sz="1600">
                <a:solidFill>
                  <a:srgbClr val="221A42"/>
                </a:solidFill>
                <a:latin typeface="Arial"/>
              </a:rPr>
              <a:t>• It is understanding systems, managing uncertainty, and making better decisions.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F5B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Presentation Script</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Welcome to QRU Day Trading A-Z Academy.</a:t>
            </a:r>
          </a:p>
          <a:p>
            <a:r>
              <a:rPr sz="1600">
                <a:solidFill>
                  <a:srgbClr val="221A42"/>
                </a:solidFill>
                <a:latin typeface="Arial"/>
              </a:rPr>
              <a:t>• Today, we are going to look at day trading differently. Many people see trading as numbers moving on a screen. But behind every price movement is a human decision. Behind every trade is uncertainty, emotion, analysis, and risk.</a:t>
            </a:r>
          </a:p>
          <a:p>
            <a:r>
              <a:rPr sz="1600">
                <a:solidFill>
                  <a:srgbClr val="221A42"/>
                </a:solidFill>
                <a:latin typeface="Arial"/>
              </a:rPr>
              <a:t>• Day trading is the practice of buying and selling financial instruments within a short time period, often within the same trading day. But if we stop there, we miss the bigger picture. Day trading is not simply clicking buy and sell buttons. It is a structured decision process.</a:t>
            </a:r>
          </a:p>
          <a:p>
            <a:r>
              <a:rPr sz="1600">
                <a:solidFill>
                  <a:srgbClr val="221A42"/>
                </a:solidFill>
                <a:latin typeface="Arial"/>
              </a:rPr>
              <a:t>• That process includes five major parts: knowledge, analysis, decision, risk, and reflection.</a:t>
            </a:r>
          </a:p>
          <a:p>
            <a:r>
              <a:rPr sz="1600">
                <a:solidFill>
                  <a:srgbClr val="221A42"/>
                </a:solidFill>
                <a:latin typeface="Arial"/>
              </a:rPr>
              <a:t>• First is knowledge. A person must understand the system. What is a market? What is an asset? What does volatility mean? What is liquidity? These ideas create the foundation for financial literacy.</a:t>
            </a:r>
          </a:p>
          <a:p>
            <a:r>
              <a:rPr sz="1600">
                <a:solidFill>
                  <a:srgbClr val="221A42"/>
                </a:solidFill>
                <a:latin typeface="Arial"/>
              </a:rPr>
              <a:t>• Second is analysis. Analysis means interpreting information. A trader studies market conditions, price movement, and context. Analysis does not remove uncertainty, but it helps a person think more clearly.</a:t>
            </a:r>
          </a:p>
          <a:p>
            <a:r>
              <a:rPr sz="1600">
                <a:solidFill>
                  <a:srgbClr val="221A42"/>
                </a:solidFill>
                <a:latin typeface="Arial"/>
              </a:rPr>
              <a:t>• Third is decision. A decision should come from a plan, no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F5B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Vocabulary</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Day trading** — The practice of buying and selling financial instruments within a short time period, often within the same trading day.</a:t>
            </a:r>
          </a:p>
          <a:p>
            <a:r>
              <a:rPr sz="1600">
                <a:solidFill>
                  <a:srgbClr val="221A42"/>
                </a:solidFill>
                <a:latin typeface="Arial"/>
              </a:rPr>
              <a:t>• Asset** — Something that has value, such as stocks, currencies, or commodities.</a:t>
            </a:r>
          </a:p>
          <a:p>
            <a:r>
              <a:rPr sz="1600">
                <a:solidFill>
                  <a:srgbClr val="221A42"/>
                </a:solidFill>
                <a:latin typeface="Arial"/>
              </a:rPr>
              <a:t>• Market** — A place or system where buyers and sellers exchange value.</a:t>
            </a:r>
          </a:p>
          <a:p>
            <a:r>
              <a:rPr sz="1600">
                <a:solidFill>
                  <a:srgbClr val="221A42"/>
                </a:solidFill>
                <a:latin typeface="Arial"/>
              </a:rPr>
              <a:t>• Volatility** — How much and how quickly prices move in a market.</a:t>
            </a:r>
          </a:p>
          <a:p>
            <a:r>
              <a:rPr sz="1600">
                <a:solidFill>
                  <a:srgbClr val="221A42"/>
                </a:solidFill>
                <a:latin typeface="Arial"/>
              </a:rPr>
              <a:t>• Liquidity** — How easily something can be bought or sold.</a:t>
            </a:r>
          </a:p>
          <a:p>
            <a:r>
              <a:rPr sz="1600">
                <a:solidFill>
                  <a:srgbClr val="221A42"/>
                </a:solidFill>
                <a:latin typeface="Arial"/>
              </a:rPr>
              <a:t>• Strategy** — A planned method for making decisions.</a:t>
            </a:r>
          </a:p>
          <a:p>
            <a:r>
              <a:rPr sz="1600">
                <a:solidFill>
                  <a:srgbClr val="221A42"/>
                </a:solidFill>
                <a:latin typeface="Arial"/>
              </a:rPr>
              <a:t>• Risk management** — Protecting resources by planning for uncertainty.</a:t>
            </a:r>
          </a:p>
          <a:p>
            <a:r>
              <a:rPr sz="1600">
                <a:solidFill>
                  <a:srgbClr val="221A42"/>
                </a:solidFill>
                <a:latin typeface="Arial"/>
              </a:rPr>
              <a:t>• Probability** — The study of possible outcomes and how likely they are.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