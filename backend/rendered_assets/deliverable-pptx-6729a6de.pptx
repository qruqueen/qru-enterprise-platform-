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5106A"/>
        </a:solidFill>
        <a:effectLst/>
      </p:bgPr>
    </p:bg>
    <p:spTree>
      <p:nvGrpSpPr>
        <p:cNvPr id="1" name=""/>
        <p:cNvGrpSpPr/>
        <p:nvPr/>
      </p:nvGrpSpPr>
      <p:grpSpPr/>
      <p:sp>
        <p:nvSpPr>
          <p:cNvPr id="2" name="TextBox 1"/>
          <p:cNvSpPr txBox="1"/>
          <p:nvPr/>
        </p:nvSpPr>
        <p:spPr>
          <a:xfrm>
            <a:off x="731520" y="2011680"/>
            <a:ext cx="10698480" cy="1097280"/>
          </a:xfrm>
          <a:prstGeom prst="rect">
            <a:avLst/>
          </a:prstGeom>
          <a:noFill/>
        </p:spPr>
        <p:txBody>
          <a:bodyPr wrap="square">
            <a:spAutoFit/>
          </a:bodyPr>
          <a:lstStyle/>
          <a:p>
            <a:r>
              <a:rPr sz="1600" b="1">
                <a:solidFill>
                  <a:srgbClr val="F5B21A"/>
                </a:solidFill>
                <a:latin typeface="Arial"/>
              </a:rPr>
              <a:t>QRU PRESS™ · Health</a:t>
            </a:r>
          </a:p>
        </p:txBody>
      </p:sp>
      <p:sp>
        <p:nvSpPr>
          <p:cNvPr id="3" name="TextBox 2"/>
          <p:cNvSpPr txBox="1"/>
          <p:nvPr/>
        </p:nvSpPr>
        <p:spPr>
          <a:xfrm>
            <a:off x="731520" y="2651760"/>
            <a:ext cx="10698480" cy="1097280"/>
          </a:xfrm>
          <a:prstGeom prst="rect">
            <a:avLst/>
          </a:prstGeom>
          <a:noFill/>
        </p:spPr>
        <p:txBody>
          <a:bodyPr wrap="square">
            <a:spAutoFit/>
          </a:bodyPr>
          <a:lstStyle/>
          <a:p>
            <a:r>
              <a:rPr sz="4000" b="1">
                <a:solidFill>
                  <a:srgbClr val="FFFFFF"/>
                </a:solidFill>
                <a:latin typeface="Arial"/>
              </a:rPr>
              <a:t>QRU Factory Acceptance Test — Understanding Sleep and Rest — Presentation</a:t>
            </a:r>
          </a:p>
        </p:txBody>
      </p:sp>
      <p:sp>
        <p:nvSpPr>
          <p:cNvPr id="4" name="TextBox 3"/>
          <p:cNvSpPr txBox="1"/>
          <p:nvPr/>
        </p:nvSpPr>
        <p:spPr>
          <a:xfrm>
            <a:off x="731520" y="4754880"/>
            <a:ext cx="10698480" cy="1097280"/>
          </a:xfrm>
          <a:prstGeom prst="rect">
            <a:avLst/>
          </a:prstGeom>
          <a:noFill/>
        </p:spPr>
        <p:txBody>
          <a:bodyPr wrap="square">
            <a:spAutoFit/>
          </a:bodyPr>
          <a:lstStyle/>
          <a:p>
            <a:r>
              <a:rPr sz="1600" b="1">
                <a:solidFill>
                  <a:srgbClr val="F5B21A"/>
                </a:solidFill>
                <a:latin typeface="Arial"/>
              </a:rPr>
              <a:t>Treasure Standard™ Certified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**QRU Factory Acceptance Test — Understanding Sleep and Rest**</a:t>
            </a:r>
          </a:p>
        </p:txBody>
      </p:sp>
      <p:sp>
        <p:nvSpPr>
          <p:cNvPr id="4" name="TextBox 3"/>
          <p:cNvSpPr txBox="1"/>
          <p:nvPr/>
        </p:nvSpPr>
        <p:spPr>
          <a:xfrm>
            <a:off x="822960" y="1737360"/>
            <a:ext cx="10515600" cy="4572000"/>
          </a:xfrm>
          <a:prstGeom prst="rect">
            <a:avLst/>
          </a:prstGeom>
          <a:noFill/>
        </p:spPr>
        <p:txBody>
          <a:bodyPr wrap="square">
            <a:spAutoFit/>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 Welcome — Sleep and Rest Are Not the Same**</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**On-Slide Content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**Why Both Matter for Health, Energy, Learning, and Safety**</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By the end of this presentation, learners will be able to:</a:t>
            </a:r>
          </a:p>
          <a:p>
            <a:r>
              <a:rPr sz="1600">
                <a:solidFill>
                  <a:srgbClr val="221A42"/>
                </a:solidFill>
                <a:latin typeface="Arial"/>
              </a:rPr>
              <a:t>• Explain why sleep is biologically essential</a:t>
            </a:r>
          </a:p>
          <a:p>
            <a:r>
              <a:rPr sz="1600">
                <a:solidFill>
                  <a:srgbClr val="221A42"/>
                </a:solidFill>
                <a:latin typeface="Arial"/>
              </a:rPr>
              <a:t>• Distinguish **sleep** from **rest</a:t>
            </a:r>
          </a:p>
          <a:p>
            <a:r>
              <a:rPr sz="1600">
                <a:solidFill>
                  <a:srgbClr val="221A42"/>
                </a:solidFill>
                <a:latin typeface="Arial"/>
              </a:rPr>
              <a:t>• Describe what can happen when sleep is chronically insufficient</a:t>
            </a:r>
          </a:p>
          <a:p>
            <a:r>
              <a:rPr sz="1600">
                <a:solidFill>
                  <a:srgbClr val="221A42"/>
                </a:solidFill>
                <a:latin typeface="Arial"/>
              </a:rPr>
              <a:t>• Identify practical habits that support healthier sleep</a:t>
            </a:r>
          </a:p>
          <a:p>
            <a:r>
              <a:rPr sz="1600">
                <a:solidFill>
                  <a:srgbClr val="221A42"/>
                </a:solidFill>
                <a:latin typeface="Arial"/>
              </a:rPr>
              <a:t>• Recognize when to seek professional guidance for sleep concerns</a:t>
            </a:r>
          </a:p>
          <a:p>
            <a:r>
              <a:rPr sz="1600">
                <a:solidFill>
                  <a:srgbClr val="221A42"/>
                </a:solidFill>
                <a:latin typeface="Arial"/>
              </a:rPr>
              <a:t>• ### **QRU Learning Cue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**Rest can pause the drain. Sleep supports the repair.**</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**Speaker Notes</a:t>
            </a:r>
          </a:p>
          <a:p>
            <a:r>
              <a:rPr sz="1600">
                <a:solidFill>
                  <a:srgbClr val="221A42"/>
                </a:solidFill>
                <a:latin typeface="Arial"/>
              </a:rPr>
              <a:t>• Welcome. In this session, we will clarify the difference between sleep and rest. People often use these words as if they mean the same thing, but biologically they are different. Rest can be helpful, calming, and restorative in certain ways, but it does not fully replace the important functions of sleep.</a:t>
            </a:r>
          </a:p>
          <a:p>
            <a:r>
              <a:rPr sz="1600">
                <a:solidFill>
                  <a:srgbClr val="221A42"/>
                </a:solidFill>
                <a:latin typeface="Arial"/>
              </a:rPr>
              <a:t>• By the end of this presentation, learners should understand why sleep matters, how rest helps, what signs may require professional guidance, and what practical habits can support healthier sleep.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2: Sleep Is Not “Doing Nothing”**</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**On-Slide Content</a:t>
            </a:r>
          </a:p>
          <a:p>
            <a:r>
              <a:rPr sz="1600">
                <a:solidFill>
                  <a:srgbClr val="221A42"/>
                </a:solidFill>
                <a:latin typeface="Arial"/>
              </a:rPr>
              <a:t>• Sleep supports:</a:t>
            </a:r>
          </a:p>
          <a:p>
            <a:r>
              <a:rPr sz="1600">
                <a:solidFill>
                  <a:srgbClr val="221A42"/>
                </a:solidFill>
                <a:latin typeface="Arial"/>
              </a:rPr>
              <a:t>• Brain function and memory</a:t>
            </a:r>
          </a:p>
          <a:p>
            <a:r>
              <a:rPr sz="1600">
                <a:solidFill>
                  <a:srgbClr val="221A42"/>
                </a:solidFill>
                <a:latin typeface="Arial"/>
              </a:rPr>
              <a:t>• Emotional regulation and mood</a:t>
            </a:r>
          </a:p>
          <a:p>
            <a:r>
              <a:rPr sz="1600">
                <a:solidFill>
                  <a:srgbClr val="221A42"/>
                </a:solidFill>
                <a:latin typeface="Arial"/>
              </a:rPr>
              <a:t>• Immune function</a:t>
            </a:r>
          </a:p>
          <a:p>
            <a:r>
              <a:rPr sz="1600">
                <a:solidFill>
                  <a:srgbClr val="221A42"/>
                </a:solidFill>
                <a:latin typeface="Arial"/>
              </a:rPr>
              <a:t>• Physical recovery</a:t>
            </a:r>
          </a:p>
          <a:p>
            <a:r>
              <a:rPr sz="1600">
                <a:solidFill>
                  <a:srgbClr val="221A42"/>
                </a:solidFill>
                <a:latin typeface="Arial"/>
              </a:rPr>
              <a:t>• Heart health and metabolism</a:t>
            </a:r>
          </a:p>
          <a:p>
            <a:r>
              <a:rPr sz="1600">
                <a:solidFill>
                  <a:srgbClr val="221A42"/>
                </a:solidFill>
                <a:latin typeface="Arial"/>
              </a:rPr>
              <a:t>• Alertness, judgment, and safety</a:t>
            </a:r>
          </a:p>
          <a:p>
            <a:r>
              <a:rPr sz="1600">
                <a:solidFill>
                  <a:srgbClr val="221A42"/>
                </a:solidFill>
                <a:latin typeface="Arial"/>
              </a:rPr>
              <a:t>• ### **Key Question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**Can rest replace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**Short Answer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**No. Rest helps, but sleep performs deeper biological work.**</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**Speaker Notes</a:t>
            </a:r>
          </a:p>
          <a:p>
            <a:r>
              <a:rPr sz="1600">
                <a:solidFill>
                  <a:srgbClr val="221A42"/>
                </a:solidFill>
                <a:latin typeface="Arial"/>
              </a:rPr>
              <a:t>• Many people think of sleep as the body simply shutting down. In reality, sleep is an active and essential biological process. During sleep, the brain and body continue doing important work that supports learning, emotional balance, immune regulation, cardiovascular health, metabolism, and recovery.</a:t>
            </a:r>
          </a:p>
          <a:p>
            <a:r>
              <a:rPr sz="1600">
                <a:solidFill>
                  <a:srgbClr val="221A42"/>
                </a:solidFill>
                <a:latin typeface="Arial"/>
              </a:rPr>
              <a:t>• Rest is helpful because it can reduce stress and effort, but it does not fully replace sleep’s deeper biological functions.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3: How Much Sleep Do People Need?**</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**On-Slide Content</a:t>
            </a:r>
          </a:p>
          <a:p>
            <a:r>
              <a:rPr sz="1600">
                <a:solidFill>
                  <a:srgbClr val="221A42"/>
                </a:solidFill>
                <a:latin typeface="Arial"/>
              </a:rPr>
              <a:t>• | Age Group | General Sleep Recommendation |</a:t>
            </a:r>
          </a:p>
          <a:p>
            <a:r>
              <a:rPr sz="1600">
                <a:solidFill>
                  <a:srgbClr val="221A42"/>
                </a:solidFill>
                <a:latin typeface="Arial"/>
              </a:rPr>
              <a:t>• |---|---:|</a:t>
            </a:r>
          </a:p>
          <a:p>
            <a:r>
              <a:rPr sz="1600">
                <a:solidFill>
                  <a:srgbClr val="221A42"/>
                </a:solidFill>
                <a:latin typeface="Arial"/>
              </a:rPr>
              <a:t>• | Adults | **7 or more hours per night** |</a:t>
            </a:r>
          </a:p>
          <a:p>
            <a:r>
              <a:rPr sz="1600">
                <a:solidFill>
                  <a:srgbClr val="221A42"/>
                </a:solidFill>
                <a:latin typeface="Arial"/>
              </a:rPr>
              <a:t>• | Teens | **8–10 hours per 24 hours** |</a:t>
            </a:r>
          </a:p>
          <a:p>
            <a:r>
              <a:rPr sz="1600">
                <a:solidFill>
                  <a:srgbClr val="221A42"/>
                </a:solidFill>
                <a:latin typeface="Arial"/>
              </a:rPr>
              <a:t>• | School-age children | **9–12 hours per 24 hours** |</a:t>
            </a:r>
          </a:p>
          <a:p>
            <a:r>
              <a:rPr sz="1600">
                <a:solidFill>
                  <a:srgbClr val="221A42"/>
                </a:solidFill>
                <a:latin typeface="Arial"/>
              </a:rPr>
              <a:t>• | Younger children | Often need even more sleep |</a:t>
            </a:r>
          </a:p>
          <a:p>
            <a:r>
              <a:rPr sz="1600">
                <a:solidFill>
                  <a:srgbClr val="221A42"/>
                </a:solidFill>
                <a:latin typeface="Arial"/>
              </a:rPr>
              <a:t>• Healthy sleep is supported by:</a:t>
            </a:r>
          </a:p>
          <a:p>
            <a:r>
              <a:rPr sz="1600">
                <a:solidFill>
                  <a:srgbClr val="221A42"/>
                </a:solidFill>
                <a:latin typeface="Arial"/>
              </a:rPr>
              <a:t>• Enough total sleep time</a:t>
            </a:r>
          </a:p>
          <a:p>
            <a:r>
              <a:rPr sz="1600">
                <a:solidFill>
                  <a:srgbClr val="221A42"/>
                </a:solidFill>
                <a:latin typeface="Arial"/>
              </a:rPr>
              <a:t>• Consistent sleep and wake schedules</a:t>
            </a:r>
          </a:p>
          <a:p>
            <a:r>
              <a:rPr sz="1600">
                <a:solidFill>
                  <a:srgbClr val="221A42"/>
                </a:solidFill>
                <a:latin typeface="Arial"/>
              </a:rPr>
              <a:t>• Good sleep quality</a:t>
            </a:r>
          </a:p>
          <a:p>
            <a:r>
              <a:rPr sz="1600">
                <a:solidFill>
                  <a:srgbClr val="221A42"/>
                </a:solidFill>
                <a:latin typeface="Arial"/>
              </a:rPr>
              <a:t>• Feeling reasonably alert during the day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4: What Sleep Does for the Brain**</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**On-Slide Content</a:t>
            </a:r>
          </a:p>
          <a:p>
            <a:r>
              <a:rPr sz="1600">
                <a:solidFill>
                  <a:srgbClr val="221A42"/>
                </a:solidFill>
                <a:latin typeface="Arial"/>
              </a:rPr>
              <a:t>• During healthy sleep, the brain supports:</a:t>
            </a:r>
          </a:p>
          <a:p>
            <a:r>
              <a:rPr sz="1600">
                <a:solidFill>
                  <a:srgbClr val="221A42"/>
                </a:solidFill>
                <a:latin typeface="Arial"/>
              </a:rPr>
              <a:t>• Memory consolidation</a:t>
            </a:r>
          </a:p>
          <a:p>
            <a:r>
              <a:rPr sz="1600">
                <a:solidFill>
                  <a:srgbClr val="221A42"/>
                </a:solidFill>
                <a:latin typeface="Arial"/>
              </a:rPr>
              <a:t>• Attention and concentration</a:t>
            </a:r>
          </a:p>
          <a:p>
            <a:r>
              <a:rPr sz="1600">
                <a:solidFill>
                  <a:srgbClr val="221A42"/>
                </a:solidFill>
                <a:latin typeface="Arial"/>
              </a:rPr>
              <a:t>• Problem-solving</a:t>
            </a:r>
          </a:p>
          <a:p>
            <a:r>
              <a:rPr sz="1600">
                <a:solidFill>
                  <a:srgbClr val="221A42"/>
                </a:solidFill>
                <a:latin typeface="Arial"/>
              </a:rPr>
              <a:t>• Emotional regulation</a:t>
            </a:r>
          </a:p>
          <a:p>
            <a:r>
              <a:rPr sz="1600">
                <a:solidFill>
                  <a:srgbClr val="221A42"/>
                </a:solidFill>
                <a:latin typeface="Arial"/>
              </a:rPr>
              <a:t>• Decision-making</a:t>
            </a:r>
          </a:p>
          <a:p>
            <a:r>
              <a:rPr sz="1600">
                <a:solidFill>
                  <a:srgbClr val="221A42"/>
                </a:solidFill>
                <a:latin typeface="Arial"/>
              </a:rPr>
              <a:t>• Learning from new information</a:t>
            </a:r>
          </a:p>
          <a:p>
            <a:r>
              <a:rPr sz="1600">
                <a:solidFill>
                  <a:srgbClr val="221A42"/>
                </a:solidFill>
                <a:latin typeface="Arial"/>
              </a:rPr>
              <a:t>• ### **Think of Sleep 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**The brain’s “save, sort, and reset” process.**</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**Speaker Notes</a:t>
            </a:r>
          </a:p>
          <a:p>
            <a:r>
              <a:rPr sz="1600">
                <a:solidFill>
                  <a:srgbClr val="221A42"/>
                </a:solidFill>
                <a:latin typeface="Arial"/>
              </a:rPr>
              <a:t>• Sleep is especially important for the brain. When people learn something new, sleep helps the brain process and consolidate that information. This does not mean sleep automatically creates perfect learning, but it supports the brain’s ability to store, organize, and retrieve information.</a:t>
            </a:r>
          </a:p>
          <a:p>
            <a:r>
              <a:rPr sz="1600">
                <a:solidFill>
                  <a:srgbClr val="221A42"/>
                </a:solidFill>
                <a:latin typeface="Arial"/>
              </a:rPr>
              <a:t>• Insufficient sleep can make it harder to focus, remember details, manage emotions, solve problems, and make safe decisions.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5: What Sleep Does for the Body**</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**On-Slide Content</a:t>
            </a:r>
          </a:p>
          <a:p>
            <a:r>
              <a:rPr sz="1600">
                <a:solidFill>
                  <a:srgbClr val="221A42"/>
                </a:solidFill>
                <a:latin typeface="Arial"/>
              </a:rPr>
              <a:t>• Healthy sleep plays a role in:</a:t>
            </a:r>
          </a:p>
          <a:p>
            <a:r>
              <a:rPr sz="1600">
                <a:solidFill>
                  <a:srgbClr val="221A42"/>
                </a:solidFill>
                <a:latin typeface="Arial"/>
              </a:rPr>
              <a:t>• Immune system regulation</a:t>
            </a:r>
          </a:p>
          <a:p>
            <a:r>
              <a:rPr sz="1600">
                <a:solidFill>
                  <a:srgbClr val="221A42"/>
                </a:solidFill>
                <a:latin typeface="Arial"/>
              </a:rPr>
              <a:t>• Hormone balance</a:t>
            </a:r>
          </a:p>
          <a:p>
            <a:r>
              <a:rPr sz="1600">
                <a:solidFill>
                  <a:srgbClr val="221A42"/>
                </a:solidFill>
                <a:latin typeface="Arial"/>
              </a:rPr>
              <a:t>• Appetite and metabolism</a:t>
            </a:r>
          </a:p>
          <a:p>
            <a:r>
              <a:rPr sz="1600">
                <a:solidFill>
                  <a:srgbClr val="221A42"/>
                </a:solidFill>
                <a:latin typeface="Arial"/>
              </a:rPr>
              <a:t>• Blood pressure regulation</a:t>
            </a:r>
          </a:p>
          <a:p>
            <a:r>
              <a:rPr sz="1600">
                <a:solidFill>
                  <a:srgbClr val="221A42"/>
                </a:solidFill>
                <a:latin typeface="Arial"/>
              </a:rPr>
              <a:t>• Heart and blood vessel health</a:t>
            </a:r>
          </a:p>
          <a:p>
            <a:r>
              <a:rPr sz="1600">
                <a:solidFill>
                  <a:srgbClr val="221A42"/>
                </a:solidFill>
                <a:latin typeface="Arial"/>
              </a:rPr>
              <a:t>• Physical recovery and tissue repair</a:t>
            </a:r>
          </a:p>
          <a:p>
            <a:r>
              <a:rPr sz="1600">
                <a:solidFill>
                  <a:srgbClr val="221A42"/>
                </a:solidFill>
                <a:latin typeface="Arial"/>
              </a:rPr>
              <a:t>• Energy restoration</a:t>
            </a:r>
          </a:p>
          <a:p>
            <a:r>
              <a:rPr sz="1600">
                <a:solidFill>
                  <a:srgbClr val="221A42"/>
                </a:solidFill>
                <a:latin typeface="Arial"/>
              </a:rPr>
              <a:t>• ### **QRU Learning Cue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**Sleep is not a luxury. It is a biological requirement.**</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**Speaker Notes</a:t>
            </a:r>
          </a:p>
          <a:p>
            <a:r>
              <a:rPr sz="1600">
                <a:solidFill>
                  <a:srgbClr val="221A42"/>
                </a:solidFill>
                <a:latin typeface="Arial"/>
              </a:rPr>
              <a:t>• Sleep affects far more than energy level. It supports many systems in the body, including immune function, metabolism, blood pressure regulation, hormone balance, and cardiovascular health.</a:t>
            </a:r>
          </a:p>
          <a:p>
            <a:r>
              <a:rPr sz="1600">
                <a:solidFill>
                  <a:srgbClr val="221A42"/>
                </a:solidFill>
                <a:latin typeface="Arial"/>
              </a:rPr>
              <a:t>• This is why chronic insufficient sleep is not just an inconvenience. Over time, it may contribute to health risks and reduced daily functioning.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6: Sleep and Rest — What Is the Difference?**</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**On-Slide Content</a:t>
            </a:r>
          </a:p>
          <a:p>
            <a:r>
              <a:rPr sz="1600">
                <a:solidFill>
                  <a:srgbClr val="221A42"/>
                </a:solidFill>
                <a:latin typeface="Arial"/>
              </a:rPr>
              <a:t>• | Sleep | Rest |</a:t>
            </a:r>
          </a:p>
          <a:p>
            <a:r>
              <a:rPr sz="1600">
                <a:solidFill>
                  <a:srgbClr val="221A42"/>
                </a:solidFill>
                <a:latin typeface="Arial"/>
              </a:rPr>
              <a:t>• |---|---|</a:t>
            </a:r>
          </a:p>
          <a:p>
            <a:r>
              <a:rPr sz="1600">
                <a:solidFill>
                  <a:srgbClr val="221A42"/>
                </a:solidFill>
                <a:latin typeface="Arial"/>
              </a:rPr>
              <a:t>• | A biological state with specific sleep stages | A reduction in effort, stimulation, or activity |</a:t>
            </a:r>
          </a:p>
          <a:p>
            <a:r>
              <a:rPr sz="1600">
                <a:solidFill>
                  <a:srgbClr val="221A42"/>
                </a:solidFill>
                <a:latin typeface="Arial"/>
              </a:rPr>
              <a:t>• | Supports memory, immune function, hormones, metabolism, and recovery | Supports calm, stress reduction, and energy conservation |</a:t>
            </a:r>
          </a:p>
          <a:p>
            <a:r>
              <a:rPr sz="1600">
                <a:solidFill>
                  <a:srgbClr val="221A42"/>
                </a:solidFill>
                <a:latin typeface="Arial"/>
              </a:rPr>
              <a:t>• | Requires enough time and quality | Can happen while awake |</a:t>
            </a:r>
          </a:p>
          <a:p>
            <a:r>
              <a:rPr sz="1600">
                <a:solidFill>
                  <a:srgbClr val="221A42"/>
                </a:solidFill>
                <a:latin typeface="Arial"/>
              </a:rPr>
              <a:t>• | Cannot be fully replaced by rest | Helpful, but not a substitute for sleep |</a:t>
            </a:r>
          </a:p>
          <a:p>
            <a:r>
              <a:rPr sz="1600">
                <a:solidFill>
                  <a:srgbClr val="221A42"/>
                </a:solidFill>
                <a:latin typeface="Arial"/>
              </a:rPr>
              <a:t>• Quiet time</a:t>
            </a:r>
          </a:p>
          <a:p>
            <a:r>
              <a:rPr sz="1600">
                <a:solidFill>
                  <a:srgbClr val="221A42"/>
                </a:solidFill>
                <a:latin typeface="Arial"/>
              </a:rPr>
              <a:t>• Meditation or prayer</a:t>
            </a:r>
          </a:p>
          <a:p>
            <a:r>
              <a:rPr sz="1600">
                <a:solidFill>
                  <a:srgbClr val="221A42"/>
                </a:solidFill>
                <a:latin typeface="Arial"/>
              </a:rPr>
              <a:t>• Short breaks during work or study</a:t>
            </a:r>
          </a:p>
          <a:p>
            <a:r>
              <a:rPr sz="1600">
                <a:solidFill>
                  <a:srgbClr val="221A42"/>
                </a:solidFill>
                <a:latin typeface="Arial"/>
              </a:rPr>
              <a:t>• Gentle stretching</a:t>
            </a:r>
          </a:p>
          <a:p>
            <a:r>
              <a:rPr sz="1600">
                <a:solidFill>
                  <a:srgbClr val="221A42"/>
                </a:solidFill>
                <a:latin typeface="Arial"/>
              </a:rPr>
              <a:t>• Relaxed breathing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7: What Happens When Sleep Is Chronically Insufficient?**</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**On-Slide Content</a:t>
            </a:r>
          </a:p>
          <a:p>
            <a:r>
              <a:rPr sz="1600">
                <a:solidFill>
                  <a:srgbClr val="221A42"/>
                </a:solidFill>
                <a:latin typeface="Arial"/>
              </a:rPr>
              <a:t>• Chronic insufficient sleep is associated with increased risk of:</a:t>
            </a:r>
          </a:p>
          <a:p>
            <a:r>
              <a:rPr sz="1600">
                <a:solidFill>
                  <a:srgbClr val="221A42"/>
                </a:solidFill>
                <a:latin typeface="Arial"/>
              </a:rPr>
              <a:t>• Reduced learning and memory</a:t>
            </a:r>
          </a:p>
          <a:p>
            <a:r>
              <a:rPr sz="1600">
                <a:solidFill>
                  <a:srgbClr val="221A42"/>
                </a:solidFill>
                <a:latin typeface="Arial"/>
              </a:rPr>
              <a:t>• Lower attention and concentration</a:t>
            </a:r>
          </a:p>
          <a:p>
            <a:r>
              <a:rPr sz="1600">
                <a:solidFill>
                  <a:srgbClr val="221A42"/>
                </a:solidFill>
                <a:latin typeface="Arial"/>
              </a:rPr>
              <a:t>• Mood changes, irritability, anxiety, or depression symptoms</a:t>
            </a:r>
          </a:p>
          <a:p>
            <a:r>
              <a:rPr sz="1600">
                <a:solidFill>
                  <a:srgbClr val="221A42"/>
                </a:solidFill>
                <a:latin typeface="Arial"/>
              </a:rPr>
              <a:t>• Weakened immune function</a:t>
            </a:r>
          </a:p>
          <a:p>
            <a:r>
              <a:rPr sz="1600">
                <a:solidFill>
                  <a:srgbClr val="221A42"/>
                </a:solidFill>
                <a:latin typeface="Arial"/>
              </a:rPr>
              <a:t>• High blood pressure</a:t>
            </a:r>
          </a:p>
          <a:p>
            <a:r>
              <a:rPr sz="1600">
                <a:solidFill>
                  <a:srgbClr val="221A42"/>
                </a:solidFill>
                <a:latin typeface="Arial"/>
              </a:rPr>
              <a:t>• Cardiovascular disease risk</a:t>
            </a:r>
          </a:p>
          <a:p>
            <a:r>
              <a:rPr sz="1600">
                <a:solidFill>
                  <a:srgbClr val="221A42"/>
                </a:solidFill>
                <a:latin typeface="Arial"/>
              </a:rPr>
              <a:t>• Weight gain and metabolic problems</a:t>
            </a:r>
          </a:p>
          <a:p>
            <a:r>
              <a:rPr sz="1600">
                <a:solidFill>
                  <a:srgbClr val="221A42"/>
                </a:solidFill>
                <a:latin typeface="Arial"/>
              </a:rPr>
              <a:t>• Type 2 diabetes risk</a:t>
            </a:r>
          </a:p>
          <a:p>
            <a:r>
              <a:rPr sz="1600">
                <a:solidFill>
                  <a:srgbClr val="221A42"/>
                </a:solidFill>
                <a:latin typeface="Arial"/>
              </a:rPr>
              <a:t>• Slower reaction time</a:t>
            </a:r>
          </a:p>
          <a:p>
            <a:r>
              <a:rPr sz="1600">
                <a:solidFill>
                  <a:srgbClr val="221A42"/>
                </a:solidFill>
                <a:latin typeface="Arial"/>
              </a:rPr>
              <a:t>• Accidents and safety incidents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8: Short-Term Warning Signs of Insufficient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**On-Slide Content</a:t>
            </a:r>
          </a:p>
          <a:p>
            <a:r>
              <a:rPr sz="1600">
                <a:solidFill>
                  <a:srgbClr val="221A42"/>
                </a:solidFill>
                <a:latin typeface="Arial"/>
              </a:rPr>
              <a:t>• You may notice:</a:t>
            </a:r>
          </a:p>
          <a:p>
            <a:r>
              <a:rPr sz="1600">
                <a:solidFill>
                  <a:srgbClr val="221A42"/>
                </a:solidFill>
                <a:latin typeface="Arial"/>
              </a:rPr>
              <a:t>• Needing an alarm every day and still feeling exhausted</a:t>
            </a:r>
          </a:p>
          <a:p>
            <a:r>
              <a:rPr sz="1600">
                <a:solidFill>
                  <a:srgbClr val="221A42"/>
                </a:solidFill>
                <a:latin typeface="Arial"/>
              </a:rPr>
              <a:t>• Trouble staying awake while reading, watching TV, or sitting quietly</a:t>
            </a:r>
          </a:p>
          <a:p>
            <a:r>
              <a:rPr sz="1600">
                <a:solidFill>
                  <a:srgbClr val="221A42"/>
                </a:solidFill>
                <a:latin typeface="Arial"/>
              </a:rPr>
              <a:t>• Irritability or emotional reactivity</a:t>
            </a:r>
          </a:p>
          <a:p>
            <a:r>
              <a:rPr sz="1600">
                <a:solidFill>
                  <a:srgbClr val="221A42"/>
                </a:solidFill>
                <a:latin typeface="Arial"/>
              </a:rPr>
              <a:t>• Difficulty focusing or remembering</a:t>
            </a:r>
          </a:p>
          <a:p>
            <a:r>
              <a:rPr sz="1600">
                <a:solidFill>
                  <a:srgbClr val="221A42"/>
                </a:solidFill>
                <a:latin typeface="Arial"/>
              </a:rPr>
              <a:t>• More mistakes than usual</a:t>
            </a:r>
          </a:p>
          <a:p>
            <a:r>
              <a:rPr sz="1600">
                <a:solidFill>
                  <a:srgbClr val="221A42"/>
                </a:solidFill>
                <a:latin typeface="Arial"/>
              </a:rPr>
              <a:t>• Strong afternoon energy crashes</a:t>
            </a:r>
          </a:p>
          <a:p>
            <a:r>
              <a:rPr sz="1600">
                <a:solidFill>
                  <a:srgbClr val="221A42"/>
                </a:solidFill>
                <a:latin typeface="Arial"/>
              </a:rPr>
              <a:t>• Reliance on caffeine to function</a:t>
            </a:r>
          </a:p>
          <a:p>
            <a:r>
              <a:rPr sz="1600">
                <a:solidFill>
                  <a:srgbClr val="221A42"/>
                </a:solidFill>
                <a:latin typeface="Arial"/>
              </a:rPr>
              <a:t>• Sleepiness while driving or during routine tasks</a:t>
            </a:r>
          </a:p>
          <a:p>
            <a:r>
              <a:rPr sz="1600">
                <a:solidFill>
                  <a:srgbClr val="221A42"/>
                </a:solidFill>
                <a:latin typeface="Arial"/>
              </a:rPr>
              <a:t>• ### **Safety Alert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**Drowsy driving is dangerous. Do not drive if you are struggling to stay awake.**</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**Speaker Notes</a:t>
            </a:r>
          </a:p>
          <a:p>
            <a:r>
              <a:rPr sz="1600">
                <a:solidFill>
                  <a:srgbClr val="221A42"/>
                </a:solidFill>
                <a:latin typeface="Arial"/>
              </a:rPr>
              <a:t>• Short-term signs of insufficient sleep can show up quickly. A person may feel foggy, irritable, forgetful, or unusually dependent on caffeine. They may also experience microsleeps, which are brief episodes of sleep that can happen without realizing it.</a:t>
            </a:r>
          </a:p>
          <a:p>
            <a:r>
              <a:rPr sz="1600">
                <a:solidFill>
                  <a:srgbClr val="221A42"/>
                </a:solidFill>
                <a:latin typeface="Arial"/>
              </a:rPr>
              <a:t>• Drowsy driving is a serious safety risk. If someone is struggling to stay awake while driving, they should stop driving, move to a safe location, and seek a safer transportation option or rest opportunity.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9: Practical Habits That Support Healthier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**On-Slide Content</a:t>
            </a:r>
          </a:p>
          <a:p>
            <a:r>
              <a:rPr sz="1600">
                <a:solidFill>
                  <a:srgbClr val="221A42"/>
                </a:solidFill>
                <a:latin typeface="Arial"/>
              </a:rPr>
              <a:t>• Try to build a routine that supports the body’s sleep-wake rhythm:</a:t>
            </a:r>
          </a:p>
          <a:p>
            <a:r>
              <a:rPr sz="1600">
                <a:solidFill>
                  <a:srgbClr val="221A42"/>
                </a:solidFill>
                <a:latin typeface="Arial"/>
              </a:rPr>
              <a:t>• 1. **Keep a consistent schedule</a:t>
            </a:r>
          </a:p>
          <a:p>
            <a:r>
              <a:rPr sz="1600">
                <a:solidFill>
                  <a:srgbClr val="221A42"/>
                </a:solidFill>
                <a:latin typeface="Arial"/>
              </a:rPr>
              <a:t>• Wake up and go to bed at similar times when possible.</a:t>
            </a:r>
          </a:p>
          <a:p>
            <a:r>
              <a:rPr sz="1600">
                <a:solidFill>
                  <a:srgbClr val="221A42"/>
                </a:solidFill>
                <a:latin typeface="Arial"/>
              </a:rPr>
              <a:t>• 2. **Use light wisely</a:t>
            </a:r>
          </a:p>
          <a:p>
            <a:r>
              <a:rPr sz="1600">
                <a:solidFill>
                  <a:srgbClr val="221A42"/>
                </a:solidFill>
                <a:latin typeface="Arial"/>
              </a:rPr>
              <a:t>• Get bright light in the morning; dim lights in the evening.</a:t>
            </a:r>
          </a:p>
          <a:p>
            <a:r>
              <a:rPr sz="1600">
                <a:solidFill>
                  <a:srgbClr val="221A42"/>
                </a:solidFill>
                <a:latin typeface="Arial"/>
              </a:rPr>
              <a:t>• 3. **Time caffeine carefully</a:t>
            </a:r>
          </a:p>
          <a:p>
            <a:r>
              <a:rPr sz="1600">
                <a:solidFill>
                  <a:srgbClr val="221A42"/>
                </a:solidFill>
                <a:latin typeface="Arial"/>
              </a:rPr>
              <a:t>• Avoid caffeine late in the day or close to bedtime.</a:t>
            </a:r>
          </a:p>
          <a:p>
            <a:r>
              <a:rPr sz="1600">
                <a:solidFill>
                  <a:srgbClr val="221A42"/>
                </a:solidFill>
                <a:latin typeface="Arial"/>
              </a:rPr>
              <a:t>• 4. **Create a wind-down routine</a:t>
            </a:r>
          </a:p>
          <a:p>
            <a:r>
              <a:rPr sz="1600">
                <a:solidFill>
                  <a:srgbClr val="221A42"/>
                </a:solidFill>
                <a:latin typeface="Arial"/>
              </a:rPr>
              <a:t>• Use calming activities before sleep.</a:t>
            </a:r>
          </a:p>
          <a:p>
            <a:r>
              <a:rPr sz="1600">
                <a:solidFill>
                  <a:srgbClr val="221A42"/>
                </a:solidFill>
                <a:latin typeface="Arial"/>
              </a:rPr>
              <a:t>• 5. **Manage screens and stimulation</a:t>
            </a:r>
          </a:p>
          <a:p>
            <a:r>
              <a:rPr sz="1600">
                <a:solidFill>
                  <a:srgbClr val="221A42"/>
                </a:solidFill>
                <a:latin typeface="Arial"/>
              </a:rPr>
              <a:t>• Reduce bright screens, alerts, and intense content near bedtime.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**Slide 10: A Simple QRU Sleep-Support Framework**</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**On-Slide Content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**S — Schedule**</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Keep sleep and wake times as consistent as possible.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**L — Light**</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Seek morning light; reduce bright light at night.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**E — Environment**</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Make the bedroom dark, quiet, cool, and comfortable.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**E — Ease Down**</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Use a calming wind-down routine.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**P — Protect**</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Protect sleep from late caffeine, unnecessary screens, and overscheduling.</a:t>
            </a:r>
          </a:p>
          <a:p>
            <a:r>
              <a:rPr sz="1600">
                <a:solidFill>
                  <a:srgbClr val="221A42"/>
                </a:solidFill>
                <a:latin typeface="Arial"/>
              </a:rPr>
              <a:t>• ### **QRU Learning Cue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A89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1097280"/>
          </a:xfrm>
          <a:prstGeom prst="rect">
            <a:avLst/>
          </a:prstGeom>
          <a:noFill/>
        </p:spPr>
        <p:txBody>
          <a:bodyPr wrap="square">
            <a:spAutoFit/>
          </a:bodyPr>
          <a:lstStyle/>
          <a:p>
            <a:r>
              <a:rPr sz="3000" b="1">
                <a:solidFill>
                  <a:srgbClr val="35106A"/>
                </a:solidFill>
                <a:latin typeface="Arial"/>
              </a:rPr>
              <a:t>**Prepare for sleep before you expect sleep.**</a:t>
            </a:r>
          </a:p>
        </p:txBody>
      </p:sp>
      <p:sp>
        <p:nvSpPr>
          <p:cNvPr id="4" name="TextBox 3"/>
          <p:cNvSpPr txBox="1"/>
          <p:nvPr/>
        </p:nvSpPr>
        <p:spPr>
          <a:xfrm>
            <a:off x="822960" y="1737360"/>
            <a:ext cx="10515600" cy="4572000"/>
          </a:xfrm>
          <a:prstGeom prst="rect">
            <a:avLst/>
          </a:prstGeom>
          <a:noFill/>
        </p:spPr>
        <p:txBody>
          <a:bodyPr wrap="square">
            <a:spAutoFit/>
          </a:bodyPr>
          <a:lstStyle/>
          <a:p>
            <a:r>
              <a:rPr sz="1600">
                <a:solidFill>
                  <a:srgbClr val="221A42"/>
                </a:solidFill>
                <a:latin typeface="Arial"/>
              </a:rPr>
              <a:t>• ### **Speaker Notes</a:t>
            </a:r>
          </a:p>
          <a:p>
            <a:r>
              <a:rPr sz="1600">
                <a:solidFill>
                  <a:srgbClr val="221A42"/>
                </a:solidFill>
                <a:latin typeface="Arial"/>
              </a:rPr>
              <a:t>• The SLEEP framework is a memory tool learners can use immediately.</a:t>
            </a:r>
          </a:p>
          <a:p>
            <a:r>
              <a:rPr sz="1600">
                <a:solidFill>
                  <a:srgbClr val="221A42"/>
                </a:solidFill>
                <a:latin typeface="Arial"/>
              </a:rPr>
              <a:t>• Schedule means giving the body a predictable rhythm. Light means using the environment to support the body clock. Environment means reducing disruptions in the bedroom. Ease Down means creating a routine that lowers alertness. Protect means treating sleep as a health priority by reducing behaviors that interfere with it.</a:t>
            </a:r>
          </a:p>
          <a:p>
            <a:r>
              <a:rPr sz="1600">
                <a:solidFill>
                  <a:srgbClr val="221A42"/>
                </a:solidFill>
                <a:latin typeface="Arial"/>
              </a:rPr>
              <a:t>• The key idea is simple: sleep is easier when the hours before bedtime support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